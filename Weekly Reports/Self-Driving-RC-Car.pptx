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3500" b="0">
                <a:solidFill>
                  <a:srgbClr val="000000"/>
                </a:solidFill>
                <a:latin typeface="Aptos Display"/>
              </a:rPr>
              <a:t>Ethan Wells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ptos"/>
              </a:rPr>
              <a:t>Week 8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600200"/>
            <a:ext cx="7589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ptos"/>
              </a:rPr>
              <a:t>Goals for the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947672"/>
            <a:ext cx="75895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Train the Mapillary model and, if time allowed, combine it with LISA.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423160"/>
            <a:ext cx="7589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ptos"/>
              </a:rPr>
              <a:t>Progress for the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770632"/>
            <a:ext cx="7589520" cy="1600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Trained the Mapillary model: 92.59% top-1 (400/432) on its own test crops.</a:t>
            </a:r>
          </a:p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Merged LISA + Mapillary: 7,601 train, 929 validation, 1,016 test crops.</a:t>
            </a:r>
          </a:p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Trained the combined model: 99.31% top-1 (1,009/1,016), 98.55% macro F1.</a:t>
            </a:r>
          </a:p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Compared all three models on the same 1,016 held-out crops.</a:t>
            </a:r>
          </a:p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Prepared 12 printable sign-card designs.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343400"/>
            <a:ext cx="7589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ptos"/>
              </a:rPr>
              <a:t>Goals for next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690872"/>
            <a:ext cx="758952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Print the cards and capture them with the CM5 camera at set distances and angles.</a:t>
            </a:r>
          </a:p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Score the camera crops separately from the road-scene crop benchmark.</a:t>
            </a:r>
          </a:p>
        </p:txBody>
      </p:sp>
      <p:sp>
        <p:nvSpPr>
          <p:cNvPr id="10" name="Result card"/>
          <p:cNvSpPr/>
          <p:nvPr/>
        </p:nvSpPr>
        <p:spPr>
          <a:xfrm>
            <a:off x="8732520" y="1645920"/>
            <a:ext cx="2697480" cy="2148840"/>
          </a:xfrm>
          <a:prstGeom prst="roundRect">
            <a:avLst>
              <a:gd name="adj" fmla="val 8000"/>
            </a:avLst>
          </a:prstGeom>
          <a:solidFill>
            <a:srgbClr val="EFF4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15400" y="1810512"/>
            <a:ext cx="23317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313F"/>
                </a:solidFill>
                <a:latin typeface="Aptos"/>
              </a:rPr>
              <a:t>Week goal met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148840"/>
            <a:ext cx="2331720" cy="7315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30669D"/>
                </a:solidFill>
                <a:latin typeface="Aptos"/>
              </a:rPr>
              <a:t>99.31%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926080"/>
            <a:ext cx="2331720" cy="7315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2313F"/>
                </a:solidFill>
                <a:latin typeface="Aptos"/>
              </a:rPr>
              <a:t>Combined-model top-1 on 1,016 held-out crops</a:t>
            </a:r>
          </a:p>
        </p:txBody>
      </p:sp>
      <p:sp>
        <p:nvSpPr>
          <p:cNvPr id="14" name="Hours card"/>
          <p:cNvSpPr/>
          <p:nvPr/>
        </p:nvSpPr>
        <p:spPr>
          <a:xfrm>
            <a:off x="8732520" y="4023360"/>
            <a:ext cx="2697480" cy="1783080"/>
          </a:xfrm>
          <a:prstGeom prst="roundRect">
            <a:avLst>
              <a:gd name="adj" fmla="val 8000"/>
            </a:avLst>
          </a:prstGeom>
          <a:solidFill>
            <a:srgbClr val="EFF4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15400" y="4187952"/>
            <a:ext cx="23317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313F"/>
                </a:solidFill>
                <a:latin typeface="Aptos"/>
              </a:rPr>
              <a:t>Hours spent on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4526280"/>
            <a:ext cx="2331720" cy="7315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000000"/>
                </a:solidFill>
                <a:latin typeface="Aptos"/>
              </a:rPr>
              <a:t>8</a:t>
            </a:r>
            <a:r>
              <a:rPr sz="1800" b="1">
                <a:solidFill>
                  <a:srgbClr val="000000"/>
                </a:solidFill>
                <a:latin typeface="Aptos"/>
              </a:rPr>
              <a:t> hours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5303520"/>
            <a:ext cx="23317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2313F"/>
                </a:solidFill>
                <a:latin typeface="Aptos"/>
              </a:rPr>
              <a:t>10/9, 10/12, 10/13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3500" b="0">
                <a:solidFill>
                  <a:srgbClr val="000000"/>
                </a:solidFill>
                <a:latin typeface="Aptos Display"/>
              </a:rPr>
              <a:t>The combined model led on the shared test set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ptos"/>
              </a:rPr>
              <a:t>Top-1 accuracy on the same 1,016 held-out crops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48256"/>
            <a:ext cx="13716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ptos"/>
              </a:rPr>
              <a:t>LISA</a:t>
            </a:r>
          </a:p>
        </p:txBody>
      </p:sp>
      <p:sp>
        <p:nvSpPr>
          <p:cNvPr id="5" name="Rectangle 4"/>
          <p:cNvSpPr/>
          <p:nvPr/>
        </p:nvSpPr>
        <p:spPr>
          <a:xfrm>
            <a:off x="2331720" y="1993392"/>
            <a:ext cx="6812280" cy="530352"/>
          </a:xfrm>
          <a:prstGeom prst="rect">
            <a:avLst/>
          </a:prstGeom>
          <a:solidFill>
            <a:srgbClr val="EFF4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331720" y="1993392"/>
            <a:ext cx="5786350" cy="530352"/>
          </a:xfrm>
          <a:prstGeom prst="rect">
            <a:avLst/>
          </a:prstGeom>
          <a:solidFill>
            <a:srgbClr val="7884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45168" y="2066544"/>
            <a:ext cx="20574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ptos"/>
              </a:rPr>
              <a:t>84.94%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96896"/>
            <a:ext cx="20116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863 / 1,016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91256"/>
            <a:ext cx="13716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ptos"/>
              </a:rPr>
              <a:t>Mapillary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3136392"/>
            <a:ext cx="6812280" cy="530352"/>
          </a:xfrm>
          <a:prstGeom prst="rect">
            <a:avLst/>
          </a:prstGeom>
          <a:solidFill>
            <a:srgbClr val="EFF4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331720" y="3136392"/>
            <a:ext cx="4908247" cy="530352"/>
          </a:xfrm>
          <a:prstGeom prst="rect">
            <a:avLst/>
          </a:prstGeom>
          <a:solidFill>
            <a:srgbClr val="7884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45168" y="3209544"/>
            <a:ext cx="20574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ptos"/>
              </a:rPr>
              <a:t>72.05%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739896"/>
            <a:ext cx="20116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732 / 1,016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34255"/>
            <a:ext cx="13716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ptos"/>
              </a:rPr>
              <a:t>Combined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4279392"/>
            <a:ext cx="6812280" cy="530352"/>
          </a:xfrm>
          <a:prstGeom prst="rect">
            <a:avLst/>
          </a:prstGeom>
          <a:solidFill>
            <a:srgbClr val="EFF4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331720" y="4279392"/>
            <a:ext cx="6765275" cy="530352"/>
          </a:xfrm>
          <a:prstGeom prst="rect">
            <a:avLst/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45168" y="4352544"/>
            <a:ext cx="20574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ptos"/>
              </a:rPr>
              <a:t>99.31%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82896"/>
            <a:ext cx="20116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1,009 / 1,016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486400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30669D"/>
                </a:solidFill>
                <a:latin typeface="Aptos"/>
              </a:rPr>
              <a:t>Combined result: 98.55% macro F1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en-US" sz="3500" b="0" dirty="0">
                <a:solidFill>
                  <a:srgbClr val="000000"/>
                </a:solidFill>
                <a:latin typeface="Aptos Display"/>
              </a:rPr>
              <a:t>Pain points and struggles</a:t>
            </a:r>
            <a:endParaRPr sz="3500" b="0" dirty="0">
              <a:solidFill>
                <a:srgbClr val="000000"/>
              </a:solidFill>
              <a:latin typeface="Aptos Display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Aptos"/>
              </a:rPr>
              <a:t>Top-1 accuracy split by where each test crop came from (same 1,016 crops)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1664208"/>
            <a:ext cx="1874519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LISA crops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584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79976" y="1664208"/>
            <a:ext cx="1874519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Mapillary crops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432 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240280"/>
            <a:ext cx="1572768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LISA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95728" y="2240280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7884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95728" y="2368296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89.90%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843784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525 / 584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2240280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F6DE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79976" y="2368296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9E3A26"/>
                </a:solidFill>
                <a:latin typeface="Aptos"/>
              </a:rPr>
              <a:t>78.24%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9976" y="2843784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E3A26"/>
                </a:solidFill>
                <a:latin typeface="Aptos"/>
              </a:rPr>
              <a:t>338 / 432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74136"/>
            <a:ext cx="1572768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Mapillary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5728" y="3374136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F6DE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95728" y="3502152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9E3A26"/>
                </a:solidFill>
                <a:latin typeface="Aptos"/>
              </a:rPr>
              <a:t>56.85%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3977640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E3A26"/>
                </a:solidFill>
                <a:latin typeface="Aptos"/>
              </a:rPr>
              <a:t>332 / 584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3374136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7884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79976" y="3502152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92.59%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9976" y="3977640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400 / 432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507992"/>
            <a:ext cx="1572768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Combined model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95728" y="4507992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95728" y="4636008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99.66%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5111496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582 / 584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9976" y="4507992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79976" y="4636008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98.84%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9976" y="5111496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427 / 432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95728" y="5751576"/>
            <a:ext cx="164592" cy="164592"/>
          </a:xfrm>
          <a:prstGeom prst="rect">
            <a:avLst/>
          </a:prstGeom>
          <a:solidFill>
            <a:srgbClr val="7884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615184" y="5687568"/>
            <a:ext cx="10972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Own dataset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21608" y="5751576"/>
            <a:ext cx="164592" cy="164592"/>
          </a:xfrm>
          <a:prstGeom prst="rect">
            <a:avLst/>
          </a:prstGeom>
          <a:solidFill>
            <a:srgbClr val="F6DE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941064" y="5687568"/>
            <a:ext cx="10972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Other dataset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5751576"/>
            <a:ext cx="164592" cy="164592"/>
          </a:xfrm>
          <a:prstGeom prst="rect">
            <a:avLst/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6944" y="5687568"/>
            <a:ext cx="10972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Both</a:t>
            </a:r>
          </a:p>
        </p:txBody>
      </p:sp>
      <p:sp>
        <p:nvSpPr>
          <p:cNvPr id="33" name="Oval 32"/>
          <p:cNvSpPr/>
          <p:nvPr/>
        </p:nvSpPr>
        <p:spPr>
          <a:xfrm>
            <a:off x="6720840" y="1709928"/>
            <a:ext cx="384048" cy="384048"/>
          </a:xfrm>
          <a:prstGeom prst="ellipse">
            <a:avLst/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20840" y="1709928"/>
            <a:ext cx="384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79" y="1691640"/>
            <a:ext cx="4160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ptos"/>
              </a:rPr>
              <a:t>Different image styles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79" y="2039112"/>
            <a:ext cx="4160520" cy="8686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2313F"/>
                </a:solidFill>
                <a:latin typeface="Aptos"/>
              </a:rPr>
              <a:t>40% of LISA training crops are grayscale; 0.4% of Mapillary's are. The Mapillary model scored 43% on grayscale LISA crops and 67% on color ones.</a:t>
            </a:r>
          </a:p>
        </p:txBody>
      </p:sp>
      <p:sp>
        <p:nvSpPr>
          <p:cNvPr id="37" name="Oval 36"/>
          <p:cNvSpPr/>
          <p:nvPr/>
        </p:nvSpPr>
        <p:spPr>
          <a:xfrm>
            <a:off x="6720840" y="3035808"/>
            <a:ext cx="384048" cy="384048"/>
          </a:xfrm>
          <a:prstGeom prst="ellipse">
            <a:avLst/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720840" y="3035808"/>
            <a:ext cx="384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79" y="3017520"/>
            <a:ext cx="4160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ptos"/>
              </a:rPr>
              <a:t>Thin classes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479" y="3364991"/>
            <a:ext cx="4160520" cy="8686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2313F"/>
                </a:solidFill>
                <a:latin typeface="Aptos"/>
              </a:rPr>
              <a:t>Mapillary had only 19 Speed 65, 32 Added Lane, and 45 Speed 45 training crops. On LISA's crops it got 0/14, 0/26, and 1/25.</a:t>
            </a:r>
          </a:p>
        </p:txBody>
      </p:sp>
      <p:sp>
        <p:nvSpPr>
          <p:cNvPr id="41" name="Oval 40"/>
          <p:cNvSpPr/>
          <p:nvPr/>
        </p:nvSpPr>
        <p:spPr>
          <a:xfrm>
            <a:off x="6720840" y="4361688"/>
            <a:ext cx="384048" cy="384048"/>
          </a:xfrm>
          <a:prstGeom prst="ellipse">
            <a:avLst/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720840" y="4361688"/>
            <a:ext cx="384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79" y="4343400"/>
            <a:ext cx="4160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ptos"/>
              </a:rPr>
              <a:t>Combined model saw both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69479" y="4690872"/>
            <a:ext cx="4160520" cy="8686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2313F"/>
                </a:solidFill>
                <a:latin typeface="Aptos"/>
              </a:rPr>
              <a:t>It trained on all 7,601 crops, with both styles in every class: 99.66% on LISA crops and 98.84% on Mapillary crops.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3500" b="0">
                <a:solidFill>
                  <a:srgbClr val="000000"/>
                </a:solidFill>
                <a:latin typeface="Aptos Display"/>
              </a:rPr>
              <a:t>Twelve sign-card designs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Aptos"/>
              </a:rPr>
              <a:t>Printable 3 × 5 in cards for the 12 classes</a:t>
            </a:r>
          </a:p>
        </p:txBody>
      </p:sp>
      <p:pic>
        <p:nvPicPr>
          <p:cNvPr id="4" name="Picture 3" descr="addedLa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9334" y="16916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5" y="2889504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Added Lane</a:t>
            </a:r>
          </a:p>
        </p:txBody>
      </p:sp>
      <p:pic>
        <p:nvPicPr>
          <p:cNvPr id="6" name="Picture 5" descr="keep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9110" y="1691640"/>
            <a:ext cx="9144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33572" y="2889504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Keep Right</a:t>
            </a:r>
          </a:p>
        </p:txBody>
      </p:sp>
      <p:pic>
        <p:nvPicPr>
          <p:cNvPr id="8" name="Picture 7" descr="mer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60286" y="1691640"/>
            <a:ext cx="1143000" cy="114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9048" y="2889504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Merge</a:t>
            </a:r>
          </a:p>
        </p:txBody>
      </p:sp>
      <p:pic>
        <p:nvPicPr>
          <p:cNvPr id="10" name="Picture 9" descr="pedestrianCross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6356" y="1691640"/>
            <a:ext cx="1141810" cy="1143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64524" y="2889504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Pedestrian Crossing</a:t>
            </a:r>
          </a:p>
        </p:txBody>
      </p:sp>
      <p:pic>
        <p:nvPicPr>
          <p:cNvPr id="12" name="Picture 11" descr="schoo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29334" y="3264408"/>
            <a:ext cx="1143000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8095" y="4462272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School</a:t>
            </a:r>
          </a:p>
        </p:txBody>
      </p:sp>
      <p:pic>
        <p:nvPicPr>
          <p:cNvPr id="14" name="Picture 13" descr="signalA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4810" y="3264408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3572" y="4462272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Signal Ahead</a:t>
            </a:r>
          </a:p>
        </p:txBody>
      </p:sp>
      <p:pic>
        <p:nvPicPr>
          <p:cNvPr id="16" name="Picture 15" descr="speedLimit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586" y="3264408"/>
            <a:ext cx="914400" cy="1143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99048" y="4462272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Speed Limit 25</a:t>
            </a:r>
          </a:p>
        </p:txBody>
      </p:sp>
      <p:pic>
        <p:nvPicPr>
          <p:cNvPr id="18" name="Picture 17" descr="speedLimit3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40062" y="3264408"/>
            <a:ext cx="914400" cy="1143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64524" y="4462272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Speed Limit 30</a:t>
            </a:r>
          </a:p>
        </p:txBody>
      </p:sp>
      <p:pic>
        <p:nvPicPr>
          <p:cNvPr id="20" name="Picture 19" descr="speedLimit3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3634" y="4837176"/>
            <a:ext cx="914400" cy="1143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8095" y="6035040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Speed Limit 35</a:t>
            </a:r>
          </a:p>
        </p:txBody>
      </p:sp>
      <p:pic>
        <p:nvPicPr>
          <p:cNvPr id="22" name="Picture 21" descr="speedLimit4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09110" y="4837176"/>
            <a:ext cx="914400" cy="1143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433572" y="6035040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Speed Limit 45</a:t>
            </a:r>
          </a:p>
        </p:txBody>
      </p:sp>
      <p:pic>
        <p:nvPicPr>
          <p:cNvPr id="24" name="Picture 23" descr="speedLimit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4586" y="4837176"/>
            <a:ext cx="914400" cy="1143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99048" y="6035040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Speed Limit 65</a:t>
            </a:r>
          </a:p>
        </p:txBody>
      </p:sp>
      <p:pic>
        <p:nvPicPr>
          <p:cNvPr id="26" name="Picture 25" descr="s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762" y="4837176"/>
            <a:ext cx="1143000" cy="1143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64524" y="6035040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Stop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Continue OpenCV Course</a:t>
            </a:r>
          </a:p>
          <a:p>
            <a:pPr lvl="1"/>
            <a:r>
              <a:rPr lang="en-US" dirty="0"/>
              <a:t>Test Line Sensors before integration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Completed OpenCV Course</a:t>
            </a:r>
            <a:endParaRPr lang="en-US" b="1" dirty="0"/>
          </a:p>
          <a:p>
            <a:pPr lvl="1"/>
            <a:r>
              <a:rPr lang="en-US" dirty="0"/>
              <a:t>Integrate Line Sensors with </a:t>
            </a:r>
            <a:r>
              <a:rPr lang="en-US" dirty="0" err="1"/>
              <a:t>RaspberryPi</a:t>
            </a:r>
            <a:endParaRPr lang="en-US" dirty="0"/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Implement OpenCV with </a:t>
            </a:r>
            <a:r>
              <a:rPr lang="en-US" dirty="0" err="1"/>
              <a:t>RaspberryPi</a:t>
            </a:r>
            <a:r>
              <a:rPr lang="en-US" dirty="0"/>
              <a:t> Camera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 hours.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394842B0-684D-44CC-B4BC-D13331CFD2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231F43-1EFC-70EC-1329-C1A17E794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US" sz="5000" dirty="0"/>
              <a:t>Line Sensors </a:t>
            </a:r>
          </a:p>
        </p:txBody>
      </p:sp>
      <p:sp>
        <p:nvSpPr>
          <p:cNvPr id="43" name="sketch line">
            <a:extLst>
              <a:ext uri="{FF2B5EF4-FFF2-40B4-BE49-F238E27FC236}">
                <a16:creationId xmlns:a16="http://schemas.microsoft.com/office/drawing/2014/main" id="{4C2A3DC3-F495-4B99-9FF3-3FB30D632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17">
            <a:extLst>
              <a:ext uri="{FF2B5EF4-FFF2-40B4-BE49-F238E27FC236}">
                <a16:creationId xmlns:a16="http://schemas.microsoft.com/office/drawing/2014/main" id="{AC179724-C167-9754-FC67-A55A460FC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US" sz="2400" dirty="0"/>
              <a:t>TCS34725 RGB Color Sensor (Top)</a:t>
            </a:r>
            <a:endParaRPr lang="en-US" sz="1800" dirty="0"/>
          </a:p>
          <a:p>
            <a:r>
              <a:rPr lang="en-US" sz="2400" dirty="0"/>
              <a:t>TCRT5000 IR Line Sensor (Bottom)</a:t>
            </a:r>
          </a:p>
          <a:p>
            <a:endParaRPr lang="en-US" sz="2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0BE8611-6E4D-8CA7-DE11-9707FDEC2A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58" r="-4" b="-4"/>
          <a:stretch>
            <a:fillRect/>
          </a:stretch>
        </p:blipFill>
        <p:spPr>
          <a:xfrm>
            <a:off x="8156454" y="-7"/>
            <a:ext cx="4035547" cy="4178808"/>
          </a:xfrm>
          <a:custGeom>
            <a:avLst/>
            <a:gdLst/>
            <a:ahLst/>
            <a:cxnLst/>
            <a:rect l="l" t="t" r="r" b="b"/>
            <a:pathLst>
              <a:path w="4035547" h="4178808">
                <a:moveTo>
                  <a:pt x="14988" y="0"/>
                </a:moveTo>
                <a:lnTo>
                  <a:pt x="4035547" y="0"/>
                </a:lnTo>
                <a:lnTo>
                  <a:pt x="4035547" y="4161794"/>
                </a:lnTo>
                <a:lnTo>
                  <a:pt x="3918602" y="4164199"/>
                </a:lnTo>
                <a:cubicBezTo>
                  <a:pt x="3673497" y="4178956"/>
                  <a:pt x="3428120" y="4172295"/>
                  <a:pt x="3183014" y="4175560"/>
                </a:cubicBezTo>
                <a:cubicBezTo>
                  <a:pt x="2855121" y="4180001"/>
                  <a:pt x="2527499" y="4168639"/>
                  <a:pt x="2199742" y="4167595"/>
                </a:cubicBezTo>
                <a:cubicBezTo>
                  <a:pt x="2132562" y="4167334"/>
                  <a:pt x="2065110" y="4170729"/>
                  <a:pt x="1998202" y="4175952"/>
                </a:cubicBezTo>
                <a:cubicBezTo>
                  <a:pt x="1905507" y="4183005"/>
                  <a:pt x="1814033" y="4174124"/>
                  <a:pt x="1722153" y="4165766"/>
                </a:cubicBezTo>
                <a:cubicBezTo>
                  <a:pt x="1611407" y="4155711"/>
                  <a:pt x="1500933" y="4164591"/>
                  <a:pt x="1390867" y="4176214"/>
                </a:cubicBezTo>
                <a:lnTo>
                  <a:pt x="1348076" y="4178808"/>
                </a:lnTo>
                <a:lnTo>
                  <a:pt x="597587" y="4178808"/>
                </a:lnTo>
                <a:lnTo>
                  <a:pt x="507890" y="4175773"/>
                </a:lnTo>
                <a:cubicBezTo>
                  <a:pt x="403218" y="4174810"/>
                  <a:pt x="298546" y="4175691"/>
                  <a:pt x="193840" y="4176214"/>
                </a:cubicBezTo>
                <a:lnTo>
                  <a:pt x="2757" y="4175742"/>
                </a:lnTo>
                <a:lnTo>
                  <a:pt x="2810" y="4034870"/>
                </a:lnTo>
                <a:cubicBezTo>
                  <a:pt x="5629" y="3979851"/>
                  <a:pt x="10539" y="3924896"/>
                  <a:pt x="15416" y="3870068"/>
                </a:cubicBezTo>
                <a:cubicBezTo>
                  <a:pt x="23018" y="3799731"/>
                  <a:pt x="25045" y="3728899"/>
                  <a:pt x="21498" y="3658244"/>
                </a:cubicBezTo>
                <a:cubicBezTo>
                  <a:pt x="17063" y="3602147"/>
                  <a:pt x="10095" y="3546050"/>
                  <a:pt x="8828" y="3489953"/>
                </a:cubicBezTo>
                <a:cubicBezTo>
                  <a:pt x="6548" y="3389688"/>
                  <a:pt x="7434" y="3289424"/>
                  <a:pt x="13262" y="3189160"/>
                </a:cubicBezTo>
                <a:cubicBezTo>
                  <a:pt x="16176" y="3138901"/>
                  <a:pt x="20864" y="3089150"/>
                  <a:pt x="22891" y="3038510"/>
                </a:cubicBezTo>
                <a:cubicBezTo>
                  <a:pt x="24918" y="2987870"/>
                  <a:pt x="28973" y="2936723"/>
                  <a:pt x="17444" y="2887098"/>
                </a:cubicBezTo>
                <a:cubicBezTo>
                  <a:pt x="-2068" y="2802699"/>
                  <a:pt x="12249" y="2718680"/>
                  <a:pt x="16430" y="2634534"/>
                </a:cubicBezTo>
                <a:cubicBezTo>
                  <a:pt x="18964" y="2582244"/>
                  <a:pt x="34168" y="2528685"/>
                  <a:pt x="20738" y="2477919"/>
                </a:cubicBezTo>
                <a:cubicBezTo>
                  <a:pt x="-421" y="2398342"/>
                  <a:pt x="13389" y="2320415"/>
                  <a:pt x="20738" y="2242107"/>
                </a:cubicBezTo>
                <a:cubicBezTo>
                  <a:pt x="29213" y="2168001"/>
                  <a:pt x="27718" y="2093082"/>
                  <a:pt x="16303" y="2019369"/>
                </a:cubicBezTo>
                <a:cubicBezTo>
                  <a:pt x="1986" y="1946239"/>
                  <a:pt x="1986" y="1871028"/>
                  <a:pt x="16303" y="1797899"/>
                </a:cubicBezTo>
                <a:cubicBezTo>
                  <a:pt x="28162" y="1737537"/>
                  <a:pt x="29530" y="1675589"/>
                  <a:pt x="20357" y="1614758"/>
                </a:cubicBezTo>
                <a:cubicBezTo>
                  <a:pt x="14149" y="1571226"/>
                  <a:pt x="3000" y="1527947"/>
                  <a:pt x="1480" y="1484415"/>
                </a:cubicBezTo>
                <a:cubicBezTo>
                  <a:pt x="-1662" y="1393377"/>
                  <a:pt x="200" y="1302238"/>
                  <a:pt x="7055" y="1211417"/>
                </a:cubicBezTo>
                <a:cubicBezTo>
                  <a:pt x="15036" y="1107980"/>
                  <a:pt x="30366" y="1004923"/>
                  <a:pt x="19724" y="900725"/>
                </a:cubicBezTo>
                <a:cubicBezTo>
                  <a:pt x="16050" y="864934"/>
                  <a:pt x="8575" y="829270"/>
                  <a:pt x="7815" y="793353"/>
                </a:cubicBezTo>
                <a:cubicBezTo>
                  <a:pt x="6168" y="726087"/>
                  <a:pt x="5407" y="659710"/>
                  <a:pt x="9208" y="590286"/>
                </a:cubicBezTo>
                <a:cubicBezTo>
                  <a:pt x="13009" y="520863"/>
                  <a:pt x="27452" y="450424"/>
                  <a:pt x="17697" y="382270"/>
                </a:cubicBezTo>
                <a:cubicBezTo>
                  <a:pt x="7941" y="314115"/>
                  <a:pt x="14276" y="247103"/>
                  <a:pt x="20611" y="180218"/>
                </a:cubicBezTo>
                <a:cubicBezTo>
                  <a:pt x="23652" y="148426"/>
                  <a:pt x="25711" y="116982"/>
                  <a:pt x="25156" y="85665"/>
                </a:cubicBezTo>
                <a:close/>
              </a:path>
            </a:pathLst>
          </a:cu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B340DF5-82FB-796D-5F0C-CA58BC0AC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50" r="-1" b="9305"/>
          <a:stretch>
            <a:fillRect/>
          </a:stretch>
        </p:blipFill>
        <p:spPr>
          <a:xfrm>
            <a:off x="8174736" y="4036195"/>
            <a:ext cx="4047645" cy="2590808"/>
          </a:xfrm>
          <a:custGeom>
            <a:avLst/>
            <a:gdLst/>
            <a:ahLst/>
            <a:cxnLst/>
            <a:rect l="l" t="t" r="r" b="b"/>
            <a:pathLst>
              <a:path w="4047645" h="2495811">
                <a:moveTo>
                  <a:pt x="2441891" y="4"/>
                </a:moveTo>
                <a:cubicBezTo>
                  <a:pt x="2489381" y="-78"/>
                  <a:pt x="2536882" y="1163"/>
                  <a:pt x="2584383" y="4428"/>
                </a:cubicBezTo>
                <a:cubicBezTo>
                  <a:pt x="2744314" y="17813"/>
                  <a:pt x="2904989" y="21079"/>
                  <a:pt x="3065367" y="14222"/>
                </a:cubicBezTo>
                <a:cubicBezTo>
                  <a:pt x="3194244" y="5694"/>
                  <a:pt x="3323514" y="4206"/>
                  <a:pt x="3452568" y="9782"/>
                </a:cubicBezTo>
                <a:cubicBezTo>
                  <a:pt x="3572813" y="16442"/>
                  <a:pt x="3693059" y="23233"/>
                  <a:pt x="3813712" y="19315"/>
                </a:cubicBezTo>
                <a:cubicBezTo>
                  <a:pt x="3861755" y="17748"/>
                  <a:pt x="3909121" y="15789"/>
                  <a:pt x="3956758" y="13177"/>
                </a:cubicBezTo>
                <a:lnTo>
                  <a:pt x="4047645" y="9696"/>
                </a:lnTo>
                <a:lnTo>
                  <a:pt x="4047645" y="2495811"/>
                </a:lnTo>
                <a:lnTo>
                  <a:pt x="28177" y="2495811"/>
                </a:lnTo>
                <a:lnTo>
                  <a:pt x="28782" y="2485852"/>
                </a:lnTo>
                <a:cubicBezTo>
                  <a:pt x="31911" y="2365446"/>
                  <a:pt x="35027" y="2245002"/>
                  <a:pt x="38157" y="2124521"/>
                </a:cubicBezTo>
                <a:cubicBezTo>
                  <a:pt x="38284" y="2119444"/>
                  <a:pt x="39171" y="2114494"/>
                  <a:pt x="39171" y="2109417"/>
                </a:cubicBezTo>
                <a:cubicBezTo>
                  <a:pt x="48166" y="1995573"/>
                  <a:pt x="53107" y="1881729"/>
                  <a:pt x="18899" y="1770550"/>
                </a:cubicBezTo>
                <a:cubicBezTo>
                  <a:pt x="15871" y="1760104"/>
                  <a:pt x="14262" y="1749304"/>
                  <a:pt x="14084" y="1738440"/>
                </a:cubicBezTo>
                <a:cubicBezTo>
                  <a:pt x="12413" y="1641514"/>
                  <a:pt x="16644" y="1544587"/>
                  <a:pt x="26754" y="1448181"/>
                </a:cubicBezTo>
                <a:cubicBezTo>
                  <a:pt x="31949" y="1389038"/>
                  <a:pt x="26754" y="1329006"/>
                  <a:pt x="43478" y="1270498"/>
                </a:cubicBezTo>
                <a:cubicBezTo>
                  <a:pt x="50864" y="1241421"/>
                  <a:pt x="55109" y="1211634"/>
                  <a:pt x="56147" y="1181656"/>
                </a:cubicBezTo>
                <a:cubicBezTo>
                  <a:pt x="59948" y="1109060"/>
                  <a:pt x="38537" y="1040779"/>
                  <a:pt x="18139" y="972244"/>
                </a:cubicBezTo>
                <a:cubicBezTo>
                  <a:pt x="7370" y="935945"/>
                  <a:pt x="-5426" y="898886"/>
                  <a:pt x="2429" y="860811"/>
                </a:cubicBezTo>
                <a:cubicBezTo>
                  <a:pt x="16707" y="802251"/>
                  <a:pt x="24854" y="742359"/>
                  <a:pt x="26754" y="682112"/>
                </a:cubicBezTo>
                <a:cubicBezTo>
                  <a:pt x="26754" y="639468"/>
                  <a:pt x="16365" y="597712"/>
                  <a:pt x="20039" y="555195"/>
                </a:cubicBezTo>
                <a:cubicBezTo>
                  <a:pt x="28211" y="472712"/>
                  <a:pt x="30238" y="389734"/>
                  <a:pt x="26121" y="306946"/>
                </a:cubicBezTo>
                <a:cubicBezTo>
                  <a:pt x="26095" y="273846"/>
                  <a:pt x="29846" y="240848"/>
                  <a:pt x="37270" y="208585"/>
                </a:cubicBezTo>
                <a:cubicBezTo>
                  <a:pt x="46506" y="151651"/>
                  <a:pt x="48419" y="93777"/>
                  <a:pt x="42971" y="36360"/>
                </a:cubicBezTo>
                <a:lnTo>
                  <a:pt x="38853" y="8429"/>
                </a:lnTo>
                <a:lnTo>
                  <a:pt x="56649" y="7824"/>
                </a:lnTo>
                <a:cubicBezTo>
                  <a:pt x="210497" y="-156"/>
                  <a:pt x="364754" y="3162"/>
                  <a:pt x="518087" y="17748"/>
                </a:cubicBezTo>
                <a:cubicBezTo>
                  <a:pt x="626567" y="25440"/>
                  <a:pt x="735534" y="24213"/>
                  <a:pt x="843809" y="14092"/>
                </a:cubicBezTo>
                <a:cubicBezTo>
                  <a:pt x="1042499" y="-1711"/>
                  <a:pt x="1240782" y="10958"/>
                  <a:pt x="1439065" y="21666"/>
                </a:cubicBezTo>
                <a:cubicBezTo>
                  <a:pt x="1631105" y="32113"/>
                  <a:pt x="1823010" y="24408"/>
                  <a:pt x="2015050" y="17487"/>
                </a:cubicBezTo>
                <a:cubicBezTo>
                  <a:pt x="2157045" y="12394"/>
                  <a:pt x="2299420" y="249"/>
                  <a:pt x="2441891" y="4"/>
                </a:cubicBezTo>
                <a:close/>
              </a:path>
            </a:pathLst>
          </a:cu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CA76FC7E-8FDD-2F27-67FA-E2218F392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F5DE5-5483-2694-9071-A7F6146E0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Research possible ROS implementation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Continue research on a possible ROS 2 implementation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Continue research on a possible ROS 2 implementation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</a:t>
            </a:r>
            <a:r>
              <a:rPr dirty="0"/>
              <a:t> hours.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98BF27-BBAE-92E8-1203-24CC45367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/>
              <a:t>ROS 2 Implementation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50EBB-D982-FD85-D489-3D6B4BBFF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200" dirty="0"/>
              <a:t>What I have learned so far is that it could be possible to make ROS 2 into our pipeline, but it will take more upfront work.</a:t>
            </a:r>
          </a:p>
          <a:p>
            <a:pPr marL="0" indent="0">
              <a:buNone/>
            </a:pPr>
            <a:r>
              <a:rPr lang="en-US" sz="2200" dirty="0"/>
              <a:t>The preliminary idea of a node structure</a:t>
            </a:r>
          </a:p>
          <a:p>
            <a:r>
              <a:rPr lang="en-US" sz="2200" dirty="0"/>
              <a:t>Camera node: Streams live video from the Pi Camera Module 3, with autofocus</a:t>
            </a:r>
          </a:p>
          <a:p>
            <a:r>
              <a:rPr lang="en-US" sz="2200" dirty="0"/>
              <a:t>Sign detector node: Runs the vision model on each frame and reports every sign’s type, confidence and position</a:t>
            </a:r>
          </a:p>
          <a:p>
            <a:r>
              <a:rPr lang="en-US" sz="2200" dirty="0"/>
              <a:t>IMU node: Reports the car’s turning and motion, and detects when it’s stuck</a:t>
            </a:r>
          </a:p>
          <a:p>
            <a:r>
              <a:rPr lang="en-US" sz="2200" dirty="0"/>
              <a:t>Behavior node: A state machine that combines sign detections and IMU data into driving decisions (stop, slow down, turn)</a:t>
            </a:r>
          </a:p>
          <a:p>
            <a:r>
              <a:rPr lang="en-US" sz="2200" dirty="0"/>
              <a:t>Motor driver node: Turns speed and steering commands into wheel power through the </a:t>
            </a:r>
            <a:r>
              <a:rPr lang="en-US" sz="2200" dirty="0" err="1"/>
              <a:t>Waveshare</a:t>
            </a:r>
            <a:r>
              <a:rPr lang="en-US" sz="2200" dirty="0"/>
              <a:t> Motor Driver HAT, and stops the motors automatically if commands stop arriving</a:t>
            </a:r>
          </a:p>
          <a:p>
            <a:r>
              <a:rPr lang="en-US" sz="2200" dirty="0"/>
              <a:t>LCD node: Shows the car’s current state and the last sign it detected</a:t>
            </a:r>
          </a:p>
          <a:p>
            <a:r>
              <a:rPr lang="en-US" sz="2200" dirty="0" err="1"/>
              <a:t>Teleop</a:t>
            </a:r>
            <a:r>
              <a:rPr lang="en-US" sz="2200" dirty="0"/>
              <a:t> node: Lets a person take over and drive the car manually</a:t>
            </a:r>
          </a:p>
          <a:p>
            <a:pPr marL="0" indent="0">
              <a:buNone/>
            </a:pPr>
            <a:r>
              <a:rPr lang="en-US" sz="2200" dirty="0"/>
              <a:t>Safety: Motors stop automatically if commands stop arriving, and a manual override is available</a:t>
            </a:r>
          </a:p>
          <a:p>
            <a:pPr marL="0" indent="0">
              <a:buNone/>
            </a:pPr>
            <a:r>
              <a:rPr lang="en-US" sz="2200" dirty="0"/>
              <a:t>Why ROS 2: Modular nodes split the work across the team, and recorded drives can be replayed to test without the car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979CB03-77A3-48F2-A1C8-52F03FCB3D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9073D962-D3D2-4A72-8593-65C213CB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1654" y="633619"/>
            <a:ext cx="4520912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0277F-C2E1-025E-B6AB-EA1CA120F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3816" y="978408"/>
            <a:ext cx="3721608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Waffle bot plates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387511B-F6E1-4929-AC90-94FB8B6B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645" y="1181536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A58F78C-27AB-465F-AA33-15E08AF26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3560" y="2185416"/>
            <a:ext cx="3683187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AE7B79-4E78-B0C2-2F1C-78B1C7B893A1}"/>
              </a:ext>
            </a:extLst>
          </p:cNvPr>
          <p:cNvSpPr txBox="1"/>
          <p:nvPr/>
        </p:nvSpPr>
        <p:spPr>
          <a:xfrm>
            <a:off x="813816" y="2368296"/>
            <a:ext cx="3721608" cy="3502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700" dirty="0"/>
              <a:t>I found some simplified Waffle plates on printables.com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One with no holes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One being a simple plate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Two being different doubles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22B260-71E4-61AF-270D-7F0B9A2AC5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124" r="20167" b="-2"/>
          <a:stretch>
            <a:fillRect/>
          </a:stretch>
        </p:blipFill>
        <p:spPr>
          <a:xfrm>
            <a:off x="5171031" y="10"/>
            <a:ext cx="3144714" cy="32095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4AECCB-24C6-4B83-4AB9-593BDB264B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725" r="12036"/>
          <a:stretch>
            <a:fillRect/>
          </a:stretch>
        </p:blipFill>
        <p:spPr>
          <a:xfrm>
            <a:off x="5171033" y="3310128"/>
            <a:ext cx="3144712" cy="35478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244B0E-E9C2-D93F-4555-E1ADC15B53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005" r="8313" b="-3"/>
          <a:stretch>
            <a:fillRect/>
          </a:stretch>
        </p:blipFill>
        <p:spPr>
          <a:xfrm>
            <a:off x="8416348" y="10"/>
            <a:ext cx="3775651" cy="41330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8A1D29-825A-D98C-E441-F5CBF4A180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65" r="1003" b="5"/>
          <a:stretch>
            <a:fillRect/>
          </a:stretch>
        </p:blipFill>
        <p:spPr>
          <a:xfrm>
            <a:off x="8416348" y="4233672"/>
            <a:ext cx="3775652" cy="26243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70000" lnSpcReduction="2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Prepare the PCB design files with all currently selected components and required connections.</a:t>
            </a:r>
          </a:p>
          <a:p>
            <a:pPr lvl="1"/>
            <a:r>
              <a:rPr lang="en-US" dirty="0"/>
              <a:t>Make sure the schematic reflects the components planned for the current </a:t>
            </a:r>
            <a:r>
              <a:rPr lang="en-US" dirty="0" err="1"/>
              <a:t>BuggyBot</a:t>
            </a:r>
            <a:r>
              <a:rPr lang="en-US" dirty="0"/>
              <a:t> hardware setup.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Created an organized component checklist/spreadsheet for the PCB design. </a:t>
            </a:r>
          </a:p>
          <a:p>
            <a:pPr lvl="1"/>
            <a:r>
              <a:rPr lang="en-US" dirty="0"/>
              <a:t>Reviewed the CM5 IO Board components and connections to determine which features should be kept, removed, or modified.</a:t>
            </a:r>
          </a:p>
          <a:p>
            <a:pPr lvl="1"/>
            <a:r>
              <a:rPr lang="en-US" dirty="0"/>
              <a:t>Removed unnecessary components from both the schematic and PCB layout.</a:t>
            </a:r>
          </a:p>
          <a:p>
            <a:r>
              <a:rPr lang="en-US" b="1" dirty="0"/>
              <a:t>Goals for next week</a:t>
            </a:r>
            <a:r>
              <a:rPr lang="en-US" dirty="0"/>
              <a:t>​​​</a:t>
            </a:r>
          </a:p>
          <a:p>
            <a:pPr lvl="1"/>
            <a:r>
              <a:rPr lang="en-US" dirty="0"/>
              <a:t>Continue developing the PCB design and component placement.</a:t>
            </a:r>
          </a:p>
          <a:p>
            <a:pPr lvl="1"/>
            <a:r>
              <a:rPr lang="en-US" dirty="0"/>
              <a:t>Begin planning power distribution and signal routing.​</a:t>
            </a:r>
          </a:p>
          <a:p>
            <a:pPr lvl="1"/>
            <a:r>
              <a:rPr lang="en-US" dirty="0"/>
              <a:t>Work toward finalizing the PCB design for manufacturing.</a:t>
            </a:r>
            <a:endParaRPr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F150F6-B5DC-9B0E-7802-A8FC01B0B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950" y="368556"/>
            <a:ext cx="9436100" cy="61208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>
            <a:extLst>
              <a:ext uri="{FF2B5EF4-FFF2-40B4-BE49-F238E27FC236}">
                <a16:creationId xmlns:a16="http://schemas.microsoft.com/office/drawing/2014/main" id="{34186BFD-4D32-6F06-6690-29A945916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725" y="700902"/>
            <a:ext cx="9480550" cy="54561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>
            <a:extLst>
              <a:ext uri="{FF2B5EF4-FFF2-40B4-BE49-F238E27FC236}">
                <a16:creationId xmlns:a16="http://schemas.microsoft.com/office/drawing/2014/main" id="{A0E52E99-419F-5F59-B3FB-9FE958F8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0" y="831017"/>
            <a:ext cx="8953500" cy="519596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286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  <vt:lpstr>Ethan Bishop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6</cp:revision>
  <dcterms:created xsi:type="dcterms:W3CDTF">2026-09-10T19:13:21Z</dcterms:created>
  <dcterms:modified xsi:type="dcterms:W3CDTF">2026-09-14T20:13:33Z</dcterms:modified>
</cp:coreProperties>
</file>