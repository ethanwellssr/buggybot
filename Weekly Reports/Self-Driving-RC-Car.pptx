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A721F44-0F89-2513-F790-DC10E5539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 Driving RC 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58BE3-2195-6F0C-E9CC-BEDF5180D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Ethan Wells</a:t>
            </a:r>
          </a:p>
          <a:p>
            <a:r>
              <a:rPr lang="en-US" dirty="0"/>
              <a:t>Abigail Duran</a:t>
            </a:r>
          </a:p>
          <a:p>
            <a:r>
              <a:rPr lang="en-US" dirty="0"/>
              <a:t>Ethan Bishop</a:t>
            </a:r>
          </a:p>
          <a:p>
            <a:r>
              <a:rPr lang="en-US" dirty="0"/>
              <a:t>Alexis Perez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2EE01582-F219-42DB-A1D7-482892605FCB}"/>
              </a:ext>
            </a:extLst>
          </p:cNvPr>
          <p:cNvSpPr>
            <a:spLocks noGrp="1"/>
          </p:cNvSpPr>
          <p:nvPr/>
        </p:nvSpPr>
        <p:spPr>
          <a:xfrm>
            <a:off x="768096" y="365760"/>
            <a:ext cx="1060704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Ethan Wells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8F17658-07B6-482D-9929-640644351B2C}"/>
              </a:ext>
            </a:extLst>
          </p:cNvPr>
          <p:cNvSpPr>
            <a:spLocks noGrp="1"/>
          </p:cNvSpPr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Week 9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1DEAC-0D92-4DC8-8CA1-0A506E081456}"/>
              </a:ext>
            </a:extLst>
          </p:cNvPr>
          <p:cNvSpPr>
            <a:spLocks noGrp="1"/>
          </p:cNvSpPr>
          <p:nvPr/>
        </p:nvSpPr>
        <p:spPr>
          <a:xfrm>
            <a:off x="768096" y="1600200"/>
            <a:ext cx="10607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Goals for the week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024F8-4261-4F38-A0D5-9A9EFF1E5401}"/>
              </a:ext>
            </a:extLst>
          </p:cNvPr>
          <p:cNvSpPr>
            <a:spLocks noGrp="1"/>
          </p:cNvSpPr>
          <p:nvPr/>
        </p:nvSpPr>
        <p:spPr>
          <a:xfrm>
            <a:off x="786384" y="194767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228600" indent="-182880" algn="l">
              <a:spcAft>
                <a:spcPts val="400"/>
              </a:spcAft>
              <a:buChar char="•"/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Test printed sign cards using BuggyBot’s CM5 camera.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325AE-1FC7-4186-B3DD-FE07DA44099A}"/>
              </a:ext>
            </a:extLst>
          </p:cNvPr>
          <p:cNvSpPr>
            <a:spLocks noGrp="1"/>
          </p:cNvSpPr>
          <p:nvPr/>
        </p:nvSpPr>
        <p:spPr>
          <a:xfrm>
            <a:off x="768096" y="2423160"/>
            <a:ext cx="10607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Progress for the week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A33F0-66D1-4DE9-94C9-5FD8EB212193}"/>
              </a:ext>
            </a:extLst>
          </p:cNvPr>
          <p:cNvSpPr>
            <a:spLocks noGrp="1"/>
          </p:cNvSpPr>
          <p:nvPr/>
        </p:nvSpPr>
        <p:spPr>
          <a:xfrm>
            <a:off x="786384" y="2770632"/>
            <a:ext cx="10607040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>
            <a:defPPr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Photographed 10 sign classes under three lighting conditions.</a:t>
            </a:r>
          </a:p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Prepared 329 camera crops with an OpenCV template-matching script.</a:t>
            </a:r>
          </a:p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Compared LISA, Mapillary, and combined models on the same crops.</a:t>
            </a:r>
          </a:p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Combined model: 329/329 correct (100% top-1).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23BB4-C4FD-4318-84D1-982A1A2D0472}"/>
              </a:ext>
            </a:extLst>
          </p:cNvPr>
          <p:cNvSpPr>
            <a:spLocks noGrp="1"/>
          </p:cNvSpPr>
          <p:nvPr/>
        </p:nvSpPr>
        <p:spPr>
          <a:xfrm>
            <a:off x="768096" y="4343400"/>
            <a:ext cx="10607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Repository cleanup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2D92D-51D4-4F54-A3AA-378B6C792D4F}"/>
              </a:ext>
            </a:extLst>
          </p:cNvPr>
          <p:cNvSpPr>
            <a:spLocks noGrp="1"/>
          </p:cNvSpPr>
          <p:nvPr/>
        </p:nvSpPr>
        <p:spPr>
          <a:xfrm>
            <a:off x="786384" y="4690872"/>
            <a:ext cx="106070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>
            <a:defPPr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Reorganized the Hardware and Model Training folders.</a:t>
            </a:r>
          </a:p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Updated maintained documentation and repaired moved-file links.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F7ACF4-A049-4282-8155-A7A484BC7BE0}"/>
              </a:ext>
            </a:extLst>
          </p:cNvPr>
          <p:cNvSpPr>
            <a:spLocks noGrp="1"/>
          </p:cNvSpPr>
          <p:nvPr/>
        </p:nvSpPr>
        <p:spPr>
          <a:xfrm>
            <a:off x="768096" y="5581650"/>
            <a:ext cx="1000125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spcAft>
                <a:spcPts val="0"/>
              </a:spcAft>
              <a:buNone/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Hours spent on progress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041C1F-98B2-4429-9912-6D5FC5D77375}"/>
              </a:ext>
            </a:extLst>
          </p:cNvPr>
          <p:cNvSpPr>
            <a:spLocks noGrp="1"/>
          </p:cNvSpPr>
          <p:nvPr/>
        </p:nvSpPr>
        <p:spPr>
          <a:xfrm>
            <a:off x="786384" y="5943600"/>
            <a:ext cx="100012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7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8AEEB6DD-A110-433D-9FD8-9511A69552AF}"/>
              </a:ext>
            </a:extLst>
          </p:cNvPr>
          <p:cNvSpPr>
            <a:spLocks noGrp="1"/>
          </p:cNvSpPr>
          <p:nvPr/>
        </p:nvSpPr>
        <p:spPr>
          <a:xfrm>
            <a:off x="768096" y="365760"/>
            <a:ext cx="1078992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>
            <a:defPPr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defPPr>
            <a:lvl1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1pPr>
            <a:lvl2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2pPr>
            <a:lvl3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3pPr>
            <a:lvl4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4pPr>
            <a:lvl5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5pPr>
            <a:lvl6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6pPr>
            <a:lvl7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7pPr>
            <a:lvl8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8pPr>
            <a:lvl9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9pPr>
          </a:lstStyle>
          <a:p>
            <a:pPr algn="l">
              <a:spcAft>
                <a:spcPts val="0"/>
              </a:spcAft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combined model classified all camera crops correctly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2D04F73-2D3A-495F-BC4D-012942FC69B2}"/>
              </a:ext>
            </a:extLst>
          </p:cNvPr>
          <p:cNvSpPr>
            <a:spLocks noGrp="1"/>
          </p:cNvSpPr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Top-1 accuracy on the same 329 BuggyBot camera crops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D1629-C10C-4AEB-9100-5BD7968515AA}"/>
              </a:ext>
            </a:extLst>
          </p:cNvPr>
          <p:cNvSpPr>
            <a:spLocks noGrp="1"/>
          </p:cNvSpPr>
          <p:nvPr/>
        </p:nvSpPr>
        <p:spPr>
          <a:xfrm>
            <a:off x="868680" y="1733550"/>
            <a:ext cx="142875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79CB0E-6DAA-4669-9A30-EE05A8901B91}"/>
              </a:ext>
            </a:extLst>
          </p:cNvPr>
          <p:cNvSpPr>
            <a:spLocks noGrp="1"/>
          </p:cNvSpPr>
          <p:nvPr/>
        </p:nvSpPr>
        <p:spPr>
          <a:xfrm>
            <a:off x="2331720" y="1666875"/>
            <a:ext cx="6812280" cy="36195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41713-6A59-42B6-838D-D2E567E17C29}"/>
              </a:ext>
            </a:extLst>
          </p:cNvPr>
          <p:cNvSpPr>
            <a:spLocks noGrp="1"/>
          </p:cNvSpPr>
          <p:nvPr/>
        </p:nvSpPr>
        <p:spPr>
          <a:xfrm>
            <a:off x="2331720" y="1666875"/>
            <a:ext cx="3250845" cy="361950"/>
          </a:xfrm>
          <a:prstGeom prst="rect">
            <a:avLst/>
          </a:prstGeom>
          <a:solidFill>
            <a:srgbClr val="78849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11A42-ABDD-450A-B7DD-E2807AABA4A1}"/>
              </a:ext>
            </a:extLst>
          </p:cNvPr>
          <p:cNvSpPr>
            <a:spLocks noGrp="1"/>
          </p:cNvSpPr>
          <p:nvPr/>
        </p:nvSpPr>
        <p:spPr>
          <a:xfrm>
            <a:off x="9345168" y="1733550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47.7%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031E9-CD54-41A0-B351-C3C3771D04F0}"/>
              </a:ext>
            </a:extLst>
          </p:cNvPr>
          <p:cNvSpPr>
            <a:spLocks noGrp="1"/>
          </p:cNvSpPr>
          <p:nvPr/>
        </p:nvSpPr>
        <p:spPr>
          <a:xfrm>
            <a:off x="2377440" y="2076450"/>
            <a:ext cx="20955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157 / 329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0E2FD-C6BD-4D97-9298-0A4370872A8E}"/>
              </a:ext>
            </a:extLst>
          </p:cNvPr>
          <p:cNvSpPr>
            <a:spLocks noGrp="1"/>
          </p:cNvSpPr>
          <p:nvPr/>
        </p:nvSpPr>
        <p:spPr>
          <a:xfrm>
            <a:off x="868680" y="2543175"/>
            <a:ext cx="142875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Mapillary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21F57-013C-4601-83AA-7A837E7D66E9}"/>
              </a:ext>
            </a:extLst>
          </p:cNvPr>
          <p:cNvSpPr>
            <a:spLocks noGrp="1"/>
          </p:cNvSpPr>
          <p:nvPr/>
        </p:nvSpPr>
        <p:spPr>
          <a:xfrm>
            <a:off x="2331720" y="2476500"/>
            <a:ext cx="6812280" cy="36195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512852-BD55-424F-A088-DED00A0D8990}"/>
              </a:ext>
            </a:extLst>
          </p:cNvPr>
          <p:cNvSpPr>
            <a:spLocks noGrp="1"/>
          </p:cNvSpPr>
          <p:nvPr/>
        </p:nvSpPr>
        <p:spPr>
          <a:xfrm>
            <a:off x="2331720" y="2476500"/>
            <a:ext cx="5445683" cy="361950"/>
          </a:xfrm>
          <a:prstGeom prst="rect">
            <a:avLst/>
          </a:prstGeom>
          <a:solidFill>
            <a:srgbClr val="78849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8E0B50-16C8-47D4-909E-F55882BB67D2}"/>
              </a:ext>
            </a:extLst>
          </p:cNvPr>
          <p:cNvSpPr>
            <a:spLocks noGrp="1"/>
          </p:cNvSpPr>
          <p:nvPr/>
        </p:nvSpPr>
        <p:spPr>
          <a:xfrm>
            <a:off x="9345168" y="2543175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79.9%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A423E-161B-4F23-833A-6994E9F9165C}"/>
              </a:ext>
            </a:extLst>
          </p:cNvPr>
          <p:cNvSpPr>
            <a:spLocks noGrp="1"/>
          </p:cNvSpPr>
          <p:nvPr/>
        </p:nvSpPr>
        <p:spPr>
          <a:xfrm>
            <a:off x="2377440" y="2886075"/>
            <a:ext cx="20955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263 / 329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22A12D-8EFC-4B67-927C-D9EED3766E4B}"/>
              </a:ext>
            </a:extLst>
          </p:cNvPr>
          <p:cNvSpPr>
            <a:spLocks noGrp="1"/>
          </p:cNvSpPr>
          <p:nvPr/>
        </p:nvSpPr>
        <p:spPr>
          <a:xfrm>
            <a:off x="868680" y="3352800"/>
            <a:ext cx="142875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36D9F2-3769-4F07-840C-4FC760FB5B12}"/>
              </a:ext>
            </a:extLst>
          </p:cNvPr>
          <p:cNvSpPr>
            <a:spLocks noGrp="1"/>
          </p:cNvSpPr>
          <p:nvPr/>
        </p:nvSpPr>
        <p:spPr>
          <a:xfrm>
            <a:off x="2331720" y="3286125"/>
            <a:ext cx="6812280" cy="36195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8DAE17-9103-405B-A70C-FEB3D7B2624E}"/>
              </a:ext>
            </a:extLst>
          </p:cNvPr>
          <p:cNvSpPr>
            <a:spLocks noGrp="1"/>
          </p:cNvSpPr>
          <p:nvPr/>
        </p:nvSpPr>
        <p:spPr>
          <a:xfrm>
            <a:off x="2331720" y="3286125"/>
            <a:ext cx="6812280" cy="361950"/>
          </a:xfrm>
          <a:prstGeom prst="rect">
            <a:avLst/>
          </a:prstGeom>
          <a:solidFill>
            <a:srgbClr val="30669D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A712C-D55E-46BE-A807-5EED8801884E}"/>
              </a:ext>
            </a:extLst>
          </p:cNvPr>
          <p:cNvSpPr>
            <a:spLocks noGrp="1"/>
          </p:cNvSpPr>
          <p:nvPr/>
        </p:nvSpPr>
        <p:spPr>
          <a:xfrm>
            <a:off x="9345168" y="3352800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95429E-EF2E-4209-887E-3EC1A9F23579}"/>
              </a:ext>
            </a:extLst>
          </p:cNvPr>
          <p:cNvSpPr>
            <a:spLocks noGrp="1"/>
          </p:cNvSpPr>
          <p:nvPr/>
        </p:nvSpPr>
        <p:spPr>
          <a:xfrm>
            <a:off x="2377440" y="3695700"/>
            <a:ext cx="20955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329 / 329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6D6964-54A7-4911-B440-F533C58BFFE4}"/>
              </a:ext>
            </a:extLst>
          </p:cNvPr>
          <p:cNvSpPr>
            <a:spLocks noGrp="1"/>
          </p:cNvSpPr>
          <p:nvPr/>
        </p:nvSpPr>
        <p:spPr>
          <a:xfrm>
            <a:off x="868680" y="4086225"/>
            <a:ext cx="10477500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>
            <a:defPPr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spcAft>
                <a:spcPts val="0"/>
              </a:spcAft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Sample camera crops: School sign</a:t>
            </a:r>
          </a:p>
        </p:txBody>
      </p:sp>
      <p:pic>
        <p:nvPicPr>
          <p:cNvPr id="20" name="">
            <a:extLst>
              <a:ext uri="{FF2B5EF4-FFF2-40B4-BE49-F238E27FC236}">
                <a16:creationId xmlns:a16="http://schemas.microsoft.com/office/drawing/2014/main" id="{9E36D1F7-9130-4150-AEA5-CA6B43905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076450" y="4524375"/>
            <a:ext cx="1524000" cy="1524000"/>
          </a:xfrm>
          <a:prstGeom prst="rect">
            <a:avLst/>
          </a:prstGeom>
        </p:spPr>
      </p:pic>
      <p:sp>
        <p:nvSpPr>
          <p:cNvPr id="21" name="No light">
            <a:extLst>
              <a:ext uri="{FF2B5EF4-FFF2-40B4-BE49-F238E27FC236}">
                <a16:creationId xmlns:a16="http://schemas.microsoft.com/office/drawing/2014/main" id="{1430CF1C-D6EE-42FF-BAD4-F9EB321A2895}"/>
              </a:ext>
            </a:extLst>
          </p:cNvPr>
          <p:cNvSpPr>
            <a:spLocks noGrp="1"/>
          </p:cNvSpPr>
          <p:nvPr/>
        </p:nvSpPr>
        <p:spPr>
          <a:xfrm>
            <a:off x="1314450" y="61531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No light</a:t>
            </a:r>
          </a:p>
        </p:txBody>
      </p:sp>
      <p:pic>
        <p:nvPicPr>
          <p:cNvPr id="22" name="">
            <a:extLst>
              <a:ext uri="{FF2B5EF4-FFF2-40B4-BE49-F238E27FC236}">
                <a16:creationId xmlns:a16="http://schemas.microsoft.com/office/drawing/2014/main" id="{891E254F-C272-49C8-8E2F-32396E3B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62575" y="4524375"/>
            <a:ext cx="1524000" cy="1524000"/>
          </a:xfrm>
          <a:prstGeom prst="rect">
            <a:avLst/>
          </a:prstGeom>
        </p:spPr>
      </p:pic>
      <p:sp>
        <p:nvSpPr>
          <p:cNvPr id="23" name="Sunlight">
            <a:extLst>
              <a:ext uri="{FF2B5EF4-FFF2-40B4-BE49-F238E27FC236}">
                <a16:creationId xmlns:a16="http://schemas.microsoft.com/office/drawing/2014/main" id="{BA7C5ABB-A0BB-4175-ABB3-45BB991D9343}"/>
              </a:ext>
            </a:extLst>
          </p:cNvPr>
          <p:cNvSpPr>
            <a:spLocks noGrp="1"/>
          </p:cNvSpPr>
          <p:nvPr/>
        </p:nvSpPr>
        <p:spPr>
          <a:xfrm>
            <a:off x="4600575" y="61531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Sunlight</a:t>
            </a:r>
          </a:p>
        </p:txBody>
      </p:sp>
      <p:pic>
        <p:nvPicPr>
          <p:cNvPr id="24" name="">
            <a:extLst>
              <a:ext uri="{FF2B5EF4-FFF2-40B4-BE49-F238E27FC236}">
                <a16:creationId xmlns:a16="http://schemas.microsoft.com/office/drawing/2014/main" id="{5733FF30-FC08-4B87-9B07-F853F365E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648700" y="4524375"/>
            <a:ext cx="1524000" cy="1524000"/>
          </a:xfrm>
          <a:prstGeom prst="rect">
            <a:avLst/>
          </a:prstGeom>
        </p:spPr>
      </p:pic>
      <p:sp>
        <p:nvSpPr>
          <p:cNvPr id="25" name="Sunlight + artificial">
            <a:extLst>
              <a:ext uri="{FF2B5EF4-FFF2-40B4-BE49-F238E27FC236}">
                <a16:creationId xmlns:a16="http://schemas.microsoft.com/office/drawing/2014/main" id="{27DC38CC-310D-4578-88AC-C85AD0B2138C}"/>
              </a:ext>
            </a:extLst>
          </p:cNvPr>
          <p:cNvSpPr>
            <a:spLocks noGrp="1"/>
          </p:cNvSpPr>
          <p:nvPr/>
        </p:nvSpPr>
        <p:spPr>
          <a:xfrm>
            <a:off x="7886700" y="61531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Sunlight + artificial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amera accuracy by sign">
            <a:extLst>
              <a:ext uri="{FF2B5EF4-FFF2-40B4-BE49-F238E27FC236}">
                <a16:creationId xmlns:a16="http://schemas.microsoft.com/office/drawing/2014/main" id="{4AA95C49-6F1E-480E-957E-D196D90B8C66}"/>
              </a:ext>
            </a:extLst>
          </p:cNvPr>
          <p:cNvSpPr>
            <a:spLocks noGrp="1"/>
          </p:cNvSpPr>
          <p:nvPr/>
        </p:nvSpPr>
        <p:spPr>
          <a:xfrm>
            <a:off x="768096" y="365760"/>
            <a:ext cx="10789920" cy="6583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9pPr>
          </a:lstStyle>
          <a:p>
            <a: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Camera accuracy by sign</a:t>
            </a:r>
          </a:p>
        </p:txBody>
      </p:sp>
      <p:sp>
        <p:nvSpPr>
          <p:cNvPr id="2" name="Top-1 accuracy on the printed-card camera cro">
            <a:extLst>
              <a:ext uri="{FF2B5EF4-FFF2-40B4-BE49-F238E27FC236}">
                <a16:creationId xmlns:a16="http://schemas.microsoft.com/office/drawing/2014/main" id="{C0D9CA55-E8F6-4498-8434-73E8AE3DE3E7}"/>
              </a:ext>
            </a:extLst>
          </p:cNvPr>
          <p:cNvSpPr>
            <a:spLocks noGrp="1"/>
          </p:cNvSpPr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Top-1 accuracy on the printed-card camera crops</a:t>
            </a:r>
          </a:p>
        </p:txBody>
      </p:sp>
      <p:graphicFrame>
        <p:nvGraphicFramePr>
          <p:cNvPr id="3" name="">
            <a:extLst>
              <a:ext uri="{FF2B5EF4-FFF2-40B4-BE49-F238E27FC236}">
                <a16:creationId xmlns:a16="http://schemas.microsoft.com/office/drawing/2014/main" id="{1584AA43-ED22-4098-B98B-2A663A674499}"/>
              </a:ext>
            </a:extLst>
          </p:cNvPr>
          <p:cNvGraphicFramePr/>
          <p:nvPr/>
        </p:nvGraphicFramePr>
        <p:xfrm>
          <a:off x="781050" y="1647825"/>
          <a:ext cx="6572250" cy="4086225"/>
        </p:xfrm>
        <a:graphic>
          <a:graphicData uri="http://schemas.openxmlformats.org/drawingml/2006/table">
            <a:tbl>
              <a:tblPr/>
              <a:tblGrid>
                <a:gridCol w="1885950"/>
                <a:gridCol w="800100"/>
                <a:gridCol w="1066800"/>
                <a:gridCol w="1371600"/>
                <a:gridCol w="1447800"/>
              </a:tblGrid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Sign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Photos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LISA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Mapillary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Combined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Added Lane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33.3%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Keep Right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72.7%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Merge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Pedestrian Crossing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School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Signal Ahead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51.5%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Speed Limit 25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Speed Limit 45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21.2%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Speed Limit 65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Stop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32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4" name="Mapillary: speed-limit failures">
            <a:extLst>
              <a:ext uri="{FF2B5EF4-FFF2-40B4-BE49-F238E27FC236}">
                <a16:creationId xmlns:a16="http://schemas.microsoft.com/office/drawing/2014/main" id="{E90E814F-D457-4052-89E0-AB28AF17E84E}"/>
              </a:ext>
            </a:extLst>
          </p:cNvPr>
          <p:cNvSpPr>
            <a:spLocks noGrp="1"/>
          </p:cNvSpPr>
          <p:nvPr/>
        </p:nvSpPr>
        <p:spPr>
          <a:xfrm>
            <a:off x="7705725" y="1657350"/>
            <a:ext cx="364807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Mapillary: speed-limit failures</a:t>
            </a:r>
          </a:p>
        </p:txBody>
      </p:sp>
      <p:sp>
        <p:nvSpPr>
          <p:cNvPr id="5" name="Every Speed 45 and Speed 65 crop was misclass">
            <a:extLst>
              <a:ext uri="{FF2B5EF4-FFF2-40B4-BE49-F238E27FC236}">
                <a16:creationId xmlns:a16="http://schemas.microsoft.com/office/drawing/2014/main" id="{DBCB3CB3-B144-40D8-8CDA-5CA6CE0C052D}"/>
              </a:ext>
            </a:extLst>
          </p:cNvPr>
          <p:cNvSpPr>
            <a:spLocks noGrp="1"/>
          </p:cNvSpPr>
          <p:nvPr/>
        </p:nvSpPr>
        <p:spPr>
          <a:xfrm>
            <a:off x="7705725" y="2190750"/>
            <a:ext cx="36480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Every Speed 45 and Speed 65 crop was misclassified (0/33 each).</a:t>
            </a:r>
          </a:p>
        </p:txBody>
      </p:sp>
      <p:sp>
        <p:nvSpPr>
          <p:cNvPr id="6" name="LISA: color mismatch is a factor">
            <a:extLst>
              <a:ext uri="{FF2B5EF4-FFF2-40B4-BE49-F238E27FC236}">
                <a16:creationId xmlns:a16="http://schemas.microsoft.com/office/drawing/2014/main" id="{7B478A8E-1B14-4E80-BA92-7F3AE8C91F85}"/>
              </a:ext>
            </a:extLst>
          </p:cNvPr>
          <p:cNvSpPr>
            <a:spLocks noGrp="1"/>
          </p:cNvSpPr>
          <p:nvPr/>
        </p:nvSpPr>
        <p:spPr>
          <a:xfrm>
            <a:off x="7705725" y="3267075"/>
            <a:ext cx="36480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LISA: color mismatch is a factor</a:t>
            </a:r>
          </a:p>
        </p:txBody>
      </p:sp>
      <p:sp>
        <p:nvSpPr>
          <p:cNvPr id="7" name="Training includes many grayscale / near-grays">
            <a:extLst>
              <a:ext uri="{FF2B5EF4-FFF2-40B4-BE49-F238E27FC236}">
                <a16:creationId xmlns:a16="http://schemas.microsoft.com/office/drawing/2014/main" id="{9BE101A6-24EF-4DDD-BB67-1666CCFB5E6D}"/>
              </a:ext>
            </a:extLst>
          </p:cNvPr>
          <p:cNvSpPr>
            <a:spLocks noGrp="1"/>
          </p:cNvSpPr>
          <p:nvPr/>
        </p:nvSpPr>
        <p:spPr>
          <a:xfrm>
            <a:off x="7705725" y="3857625"/>
            <a:ext cx="36480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Training includes many grayscale / near-grayscale crops; all 329 camera crops are color.</a:t>
            </a:r>
          </a:p>
        </p:txBody>
      </p:sp>
      <p:sp>
        <p:nvSpPr>
          <p:cNvPr id="8" name="Grayscale conversion raised LISA from 47.7% t">
            <a:extLst>
              <a:ext uri="{FF2B5EF4-FFF2-40B4-BE49-F238E27FC236}">
                <a16:creationId xmlns:a16="http://schemas.microsoft.com/office/drawing/2014/main" id="{B22A15A0-2860-45A2-BBB9-A35C0BF26626}"/>
              </a:ext>
            </a:extLst>
          </p:cNvPr>
          <p:cNvSpPr>
            <a:spLocks noGrp="1"/>
          </p:cNvSpPr>
          <p:nvPr/>
        </p:nvSpPr>
        <p:spPr>
          <a:xfrm>
            <a:off x="7705725" y="4857750"/>
            <a:ext cx="3648075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Grayscale conversion raised LISA from 47.7% to 59.6% on these same photos. It does not explain every error.</a:t>
            </a:r>
          </a:p>
        </p:txBody>
      </p:sp>
      <p:sp>
        <p:nvSpPr>
          <p:cNvPr id="9" name="Speed limits 30 and 35 were not photographed;">
            <a:extLst>
              <a:ext uri="{FF2B5EF4-FFF2-40B4-BE49-F238E27FC236}">
                <a16:creationId xmlns:a16="http://schemas.microsoft.com/office/drawing/2014/main" id="{2D6ED7EE-D272-4D02-9A02-CDF3810AEEA1}"/>
              </a:ext>
            </a:extLst>
          </p:cNvPr>
          <p:cNvSpPr>
            <a:spLocks noGrp="1"/>
          </p:cNvSpPr>
          <p:nvPr/>
        </p:nvSpPr>
        <p:spPr>
          <a:xfrm>
            <a:off x="790575" y="6019800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Speed limits 30 and 35 were not photographed; they are not planned for the track.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Test limits and goals for next week">
            <a:extLst>
              <a:ext uri="{FF2B5EF4-FFF2-40B4-BE49-F238E27FC236}">
                <a16:creationId xmlns:a16="http://schemas.microsoft.com/office/drawing/2014/main" id="{3A601647-C90F-4D1F-92C0-E8E5EF190329}"/>
              </a:ext>
            </a:extLst>
          </p:cNvPr>
          <p:cNvSpPr>
            <a:spLocks noGrp="1"/>
          </p:cNvSpPr>
          <p:nvPr/>
        </p:nvSpPr>
        <p:spPr>
          <a:xfrm>
            <a:off x="768096" y="365760"/>
            <a:ext cx="10789920" cy="6583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9pPr>
          </a:lstStyle>
          <a:p>
            <a: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Test limits and goals for next week</a:t>
            </a:r>
          </a:p>
        </p:txBody>
      </p:sp>
      <p:sp>
        <p:nvSpPr>
          <p:cNvPr id="2" name="The classifier passed this crop test; the liv">
            <a:extLst>
              <a:ext uri="{FF2B5EF4-FFF2-40B4-BE49-F238E27FC236}">
                <a16:creationId xmlns:a16="http://schemas.microsoft.com/office/drawing/2014/main" id="{69F15499-FDFF-459E-A6CE-FFEE1ACD23A7}"/>
              </a:ext>
            </a:extLst>
          </p:cNvPr>
          <p:cNvSpPr>
            <a:spLocks noGrp="1"/>
          </p:cNvSpPr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classifier passed this crop test; the live pipeline remains to be tested</a:t>
            </a:r>
          </a:p>
        </p:txBody>
      </p:sp>
      <p:sp>
        <p:nvSpPr>
          <p:cNvPr id="3" name="Test limits">
            <a:extLst>
              <a:ext uri="{FF2B5EF4-FFF2-40B4-BE49-F238E27FC236}">
                <a16:creationId xmlns:a16="http://schemas.microsoft.com/office/drawing/2014/main" id="{DBCA19F4-C7DB-4300-B28A-EC131752FEDF}"/>
              </a:ext>
            </a:extLst>
          </p:cNvPr>
          <p:cNvSpPr>
            <a:spLocks noGrp="1"/>
          </p:cNvSpPr>
          <p:nvPr/>
        </p:nvSpPr>
        <p:spPr>
          <a:xfrm>
            <a:off x="790575" y="171450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Test limits</a:t>
            </a:r>
          </a:p>
        </p:txBody>
      </p:sp>
      <p:sp>
        <p:nvSpPr>
          <p:cNvPr id="4" name="329 photos represent about 30 setups; repeate">
            <a:extLst>
              <a:ext uri="{FF2B5EF4-FFF2-40B4-BE49-F238E27FC236}">
                <a16:creationId xmlns:a16="http://schemas.microsoft.com/office/drawing/2014/main" id="{C7783AEA-A0A0-4052-8116-59FFA2A8B4FC}"/>
              </a:ext>
            </a:extLst>
          </p:cNvPr>
          <p:cNvSpPr>
            <a:spLocks noGrp="1"/>
          </p:cNvSpPr>
          <p:nvPr/>
        </p:nvSpPr>
        <p:spPr>
          <a:xfrm>
            <a:off x="790575" y="2266950"/>
            <a:ext cx="48101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329 photos represent about 30 setups; repeated frames are near-duplicates.</a:t>
            </a:r>
          </a:p>
        </p:txBody>
      </p:sp>
      <p:sp>
        <p:nvSpPr>
          <p:cNvPr id="5" name="Cropping used each sign’s known class and mat">
            <a:extLst>
              <a:ext uri="{FF2B5EF4-FFF2-40B4-BE49-F238E27FC236}">
                <a16:creationId xmlns:a16="http://schemas.microsoft.com/office/drawing/2014/main" id="{8429D3E0-951F-4E24-961E-2D4353E82D0F}"/>
              </a:ext>
            </a:extLst>
          </p:cNvPr>
          <p:cNvSpPr>
            <a:spLocks noGrp="1"/>
          </p:cNvSpPr>
          <p:nvPr/>
        </p:nvSpPr>
        <p:spPr>
          <a:xfrm>
            <a:off x="790575" y="3181350"/>
            <a:ext cx="48101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Cropping used each sign’s known class and matching artwork.</a:t>
            </a:r>
          </a:p>
        </p:txBody>
      </p:sp>
      <p:sp>
        <p:nvSpPr>
          <p:cNvPr id="6" name="Distances and angles were not systematically ">
            <a:extLst>
              <a:ext uri="{FF2B5EF4-FFF2-40B4-BE49-F238E27FC236}">
                <a16:creationId xmlns:a16="http://schemas.microsoft.com/office/drawing/2014/main" id="{AC362573-766F-45CB-A5CF-EC787E72B3E2}"/>
              </a:ext>
            </a:extLst>
          </p:cNvPr>
          <p:cNvSpPr>
            <a:spLocks noGrp="1"/>
          </p:cNvSpPr>
          <p:nvPr/>
        </p:nvSpPr>
        <p:spPr>
          <a:xfrm>
            <a:off x="790575" y="4095750"/>
            <a:ext cx="48101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Distances and angles were not systematically varied in the recorded test.</a:t>
            </a:r>
          </a:p>
        </p:txBody>
      </p:sp>
      <p:sp>
        <p:nvSpPr>
          <p:cNvPr id="7" name="Results measure cropped-sign classification; ">
            <a:extLst>
              <a:ext uri="{FF2B5EF4-FFF2-40B4-BE49-F238E27FC236}">
                <a16:creationId xmlns:a16="http://schemas.microsoft.com/office/drawing/2014/main" id="{FEF9C5E9-F5E5-4FEE-BE49-FAF81112FC92}"/>
              </a:ext>
            </a:extLst>
          </p:cNvPr>
          <p:cNvSpPr>
            <a:spLocks noGrp="1"/>
          </p:cNvSpPr>
          <p:nvPr/>
        </p:nvSpPr>
        <p:spPr>
          <a:xfrm>
            <a:off x="790575" y="5010150"/>
            <a:ext cx="48101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Results measure cropped-sign classification; live sign detection and CM5 inference remain unverified.</a:t>
            </a:r>
          </a:p>
        </p:txBody>
      </p:sp>
      <p:sp>
        <p:nvSpPr>
          <p:cNvPr id="8" name="Goals for next week">
            <a:extLst>
              <a:ext uri="{FF2B5EF4-FFF2-40B4-BE49-F238E27FC236}">
                <a16:creationId xmlns:a16="http://schemas.microsoft.com/office/drawing/2014/main" id="{3C7047C2-9D9F-4189-AA62-325DDFF729AD}"/>
              </a:ext>
            </a:extLst>
          </p:cNvPr>
          <p:cNvSpPr>
            <a:spLocks noGrp="1"/>
          </p:cNvSpPr>
          <p:nvPr/>
        </p:nvSpPr>
        <p:spPr>
          <a:xfrm>
            <a:off x="6400800" y="1714500"/>
            <a:ext cx="49911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Goals for next week</a:t>
            </a:r>
          </a:p>
        </p:txBody>
      </p:sp>
      <p:sp>
        <p:nvSpPr>
          <p:cNvPr id="9" name="1. Connect the combined classifier to the CM5">
            <a:extLst>
              <a:ext uri="{FF2B5EF4-FFF2-40B4-BE49-F238E27FC236}">
                <a16:creationId xmlns:a16="http://schemas.microsoft.com/office/drawing/2014/main" id="{615CA3E8-91A9-4EF3-BF89-16484D4E8B0B}"/>
              </a:ext>
            </a:extLst>
          </p:cNvPr>
          <p:cNvSpPr>
            <a:spLocks noGrp="1"/>
          </p:cNvSpPr>
          <p:nvPr/>
        </p:nvSpPr>
        <p:spPr>
          <a:xfrm>
            <a:off x="6400800" y="2266950"/>
            <a:ext cx="49911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1. Connect the combined classifier to the CM5 camera and LCD pipeline.</a:t>
            </a:r>
          </a:p>
        </p:txBody>
      </p:sp>
      <p:sp>
        <p:nvSpPr>
          <p:cNvPr id="10" name="2. Evaluate automatic sign crops without usin">
            <a:extLst>
              <a:ext uri="{FF2B5EF4-FFF2-40B4-BE49-F238E27FC236}">
                <a16:creationId xmlns:a16="http://schemas.microsoft.com/office/drawing/2014/main" id="{6B34F6A6-90C8-4B83-AEE3-B6DF57BBB9BC}"/>
              </a:ext>
            </a:extLst>
          </p:cNvPr>
          <p:cNvSpPr>
            <a:spLocks noGrp="1"/>
          </p:cNvSpPr>
          <p:nvPr/>
        </p:nvSpPr>
        <p:spPr>
          <a:xfrm>
            <a:off x="6400800" y="3505200"/>
            <a:ext cx="49911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2. Evaluate automatic sign crops without using the known class.</a:t>
            </a:r>
          </a:p>
        </p:txBody>
      </p:sp>
      <p:sp>
        <p:nvSpPr>
          <p:cNvPr id="11" name="3. Capture new setups at measured distances a">
            <a:extLst>
              <a:ext uri="{FF2B5EF4-FFF2-40B4-BE49-F238E27FC236}">
                <a16:creationId xmlns:a16="http://schemas.microsoft.com/office/drawing/2014/main" id="{9F9BD05C-83E5-4D94-91F9-340E8CF43B7E}"/>
              </a:ext>
            </a:extLst>
          </p:cNvPr>
          <p:cNvSpPr>
            <a:spLocks noGrp="1"/>
          </p:cNvSpPr>
          <p:nvPr/>
        </p:nvSpPr>
        <p:spPr>
          <a:xfrm>
            <a:off x="6400800" y="4743450"/>
            <a:ext cx="49911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3. Capture new setups at measured distances and angles; track accuracy and inference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30AEBF44-7FD5-A705-80AC-D5F6B809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Alexis Perez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BF837-7A7D-A6A3-574B-020760331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Goals for the week</a:t>
            </a:r>
          </a:p>
          <a:p>
            <a:pPr lvl="1"/>
            <a:r>
              <a:rPr lang="en-US" dirty="0"/>
              <a:t>OpenCV Learning and Testing</a:t>
            </a:r>
          </a:p>
          <a:p>
            <a:pPr lvl="1"/>
            <a:r>
              <a:rPr lang="en-US" dirty="0"/>
              <a:t>Test vehicle components together</a:t>
            </a:r>
          </a:p>
          <a:p>
            <a:r>
              <a:rPr lang="en-US" b="1" dirty="0"/>
              <a:t>Progress for the week</a:t>
            </a:r>
          </a:p>
          <a:p>
            <a:pPr lvl="1"/>
            <a:r>
              <a:rPr lang="en-US" dirty="0"/>
              <a:t>OpenCV testing on Webcam</a:t>
            </a:r>
          </a:p>
          <a:p>
            <a:pPr lvl="1"/>
            <a:r>
              <a:rPr lang="en-US" dirty="0"/>
              <a:t>Ordered Chassis to test components</a:t>
            </a:r>
          </a:p>
          <a:p>
            <a:r>
              <a:rPr lang="en-US" b="1" dirty="0"/>
              <a:t>Goals for next week</a:t>
            </a:r>
          </a:p>
          <a:p>
            <a:pPr lvl="1"/>
            <a:r>
              <a:rPr lang="en-US" dirty="0"/>
              <a:t>Implement OpenCV with </a:t>
            </a:r>
            <a:r>
              <a:rPr lang="en-US" dirty="0" err="1"/>
              <a:t>RaspberryPi</a:t>
            </a:r>
            <a:r>
              <a:rPr lang="en-US" dirty="0"/>
              <a:t> Camera</a:t>
            </a:r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6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83" y="0"/>
            <a:ext cx="103050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F615E2-3BCF-141C-922F-3366A8E88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Test Chassis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C9F5815-0534-FAE7-A690-5064A383D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A3C877-0F59-85E7-79C2-C2AF0EC2A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A76FC7E-8FDD-2F27-67FA-E2218F39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Bishop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5DE5-5483-2694-9071-A7F6146E0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299294"/>
          </a:xfrm>
        </p:spPr>
        <p:txBody>
          <a:bodyPr>
            <a:normAutofit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lang="en-US" dirty="0"/>
              <a:t>Research on a possible ROS 2 implementation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Installed ROS 2 under WSL</a:t>
            </a:r>
          </a:p>
          <a:p>
            <a:pPr lvl="1"/>
            <a:r>
              <a:rPr lang="en-US" dirty="0"/>
              <a:t>Drafted the ROS 2 node architecture</a:t>
            </a:r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Create a test </a:t>
            </a:r>
            <a:r>
              <a:rPr lang="en-US"/>
              <a:t>program for </a:t>
            </a:r>
            <a:r>
              <a:rPr lang="en-US" dirty="0"/>
              <a:t>ROS 2 implementation</a:t>
            </a:r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6</a:t>
            </a:r>
            <a:r>
              <a:rPr dirty="0"/>
              <a:t> hours.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8096" y="365760"/>
            <a:ext cx="10789920" cy="658368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US" sz="3500" b="0" dirty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ROS 2 could split our pipeline into eight nodes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Preliminary node structure for the car; each node does one job</a:t>
            </a:r>
          </a:p>
        </p:txBody>
      </p:sp>
      <p:sp>
        <p:nvSpPr>
          <p:cNvPr id="4" name="Nodes"/>
          <p:cNvSpPr txBox="1"/>
          <p:nvPr/>
        </p:nvSpPr>
        <p:spPr>
          <a:xfrm>
            <a:off x="786384" y="171907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950" b="1" dirty="0">
                <a:solidFill>
                  <a:srgbClr val="30669D"/>
                </a:solidFill>
                <a:latin typeface="Aptos"/>
                <a:ea typeface="Aptos"/>
                <a:cs typeface="Aptos"/>
              </a:rPr>
              <a:t>Nodes</a:t>
            </a:r>
          </a:p>
        </p:txBody>
      </p:sp>
      <p:sp>
        <p:nvSpPr>
          <p:cNvPr id="5" name="Node list"/>
          <p:cNvSpPr txBox="1"/>
          <p:nvPr/>
        </p:nvSpPr>
        <p:spPr>
          <a:xfrm>
            <a:off x="786384" y="2240280"/>
            <a:ext cx="630936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Camera: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streams video from the Pi Camera Module 3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Sign detector: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runs the vision model and reports each sign’s type, confidence and position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Line sensor: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tracks the lane lines with TCRT5000 IR sensors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IMU: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reports turning and motion; detects if the car is stuck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Behavior: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 state machine that turns signs, lane position and IMU data into driving decisions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Motor driver: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drives the wheels through the Waveshare HAT and stops if commands stop arriving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LCD: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shows the car’s state and the last sign detected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Teleop: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lets a person take over and drive manually</a:t>
            </a:r>
          </a:p>
        </p:txBody>
      </p:sp>
      <p:sp>
        <p:nvSpPr>
          <p:cNvPr id="6" name="Why ROS 2"/>
          <p:cNvSpPr txBox="1"/>
          <p:nvPr/>
        </p:nvSpPr>
        <p:spPr>
          <a:xfrm>
            <a:off x="7635240" y="1719072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950" b="1" dirty="0">
                <a:solidFill>
                  <a:srgbClr val="30669D"/>
                </a:solidFill>
                <a:latin typeface="Aptos"/>
                <a:ea typeface="Aptos"/>
                <a:cs typeface="Aptos"/>
              </a:rPr>
              <a:t>Why ROS 2</a:t>
            </a:r>
          </a:p>
        </p:txBody>
      </p:sp>
      <p:sp>
        <p:nvSpPr>
          <p:cNvPr id="7" name="Why ROS 2 list"/>
          <p:cNvSpPr txBox="1"/>
          <p:nvPr/>
        </p:nvSpPr>
        <p:spPr>
          <a:xfrm>
            <a:off x="7635240" y="2240280"/>
            <a:ext cx="37947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Each teammate can own a node without touching the others</a:t>
            </a:r>
          </a:p>
          <a:p>
            <a:pPr marL="228600" indent="-228600" algn="l">
              <a:spcBef>
                <a:spcPts val="9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Recorded drives can be replayed to test without the car</a:t>
            </a:r>
          </a:p>
          <a:p>
            <a:pPr marL="228600" indent="-228600" algn="l">
              <a:spcBef>
                <a:spcPts val="9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Laptops can watch the camera feed and topics live</a:t>
            </a:r>
          </a:p>
        </p:txBody>
      </p:sp>
      <p:sp>
        <p:nvSpPr>
          <p:cNvPr id="8" name="Trade-off"/>
          <p:cNvSpPr txBox="1"/>
          <p:nvPr/>
        </p:nvSpPr>
        <p:spPr>
          <a:xfrm>
            <a:off x="7635240" y="443484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950" b="1" dirty="0">
                <a:solidFill>
                  <a:srgbClr val="30669D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9" name="Trade-off text"/>
          <p:cNvSpPr txBox="1"/>
          <p:nvPr/>
        </p:nvSpPr>
        <p:spPr>
          <a:xfrm>
            <a:off x="7635240" y="4956048"/>
            <a:ext cx="37947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More upfront setup than a single script, including a custom Docker build for the CM5 camera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8096" y="365760"/>
            <a:ext cx="10789920" cy="658368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US" sz="3500" b="0" dirty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behavior node makes every driving decision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Draft ROS 2 data flow: boxes are nodes, arrows are topics</a:t>
            </a:r>
          </a:p>
        </p:txBody>
      </p:sp>
      <p:sp>
        <p:nvSpPr>
          <p:cNvPr id="4" name="Line sensor"/>
          <p:cNvSpPr/>
          <p:nvPr/>
        </p:nvSpPr>
        <p:spPr>
          <a:xfrm>
            <a:off x="6766560" y="169164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Line sensor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TCRT5000 IR sensors</a:t>
            </a:r>
          </a:p>
        </p:txBody>
      </p:sp>
      <p:cxnSp>
        <p:nvCxnSpPr>
          <p:cNvPr id="5" name="Arrow /lane"/>
          <p:cNvCxnSpPr/>
          <p:nvPr/>
        </p:nvCxnSpPr>
        <p:spPr>
          <a:xfrm>
            <a:off x="7726680" y="2578608"/>
            <a:ext cx="0" cy="530352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6" name="Topic /lane"/>
          <p:cNvSpPr txBox="1"/>
          <p:nvPr/>
        </p:nvSpPr>
        <p:spPr>
          <a:xfrm>
            <a:off x="7836408" y="27066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/lane</a:t>
            </a:r>
          </a:p>
        </p:txBody>
      </p:sp>
      <p:sp>
        <p:nvSpPr>
          <p:cNvPr id="7" name="Camera"/>
          <p:cNvSpPr/>
          <p:nvPr/>
        </p:nvSpPr>
        <p:spPr>
          <a:xfrm>
            <a:off x="786384" y="315468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Camera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Pi Camera Module 3</a:t>
            </a:r>
          </a:p>
        </p:txBody>
      </p:sp>
      <p:sp>
        <p:nvSpPr>
          <p:cNvPr id="8" name="Sign detector"/>
          <p:cNvSpPr/>
          <p:nvPr/>
        </p:nvSpPr>
        <p:spPr>
          <a:xfrm>
            <a:off x="3776472" y="315468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Sign detector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Vision model</a:t>
            </a:r>
          </a:p>
        </p:txBody>
      </p:sp>
      <p:sp>
        <p:nvSpPr>
          <p:cNvPr id="9" name="Behavior"/>
          <p:cNvSpPr/>
          <p:nvPr/>
        </p:nvSpPr>
        <p:spPr>
          <a:xfrm>
            <a:off x="6766560" y="315468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30669D"/>
          </a:solidFill>
          <a:ln w="12700">
            <a:solidFill>
              <a:srgbClr val="30669D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</a:t>
            </a:r>
          </a:p>
          <a:p>
            <a:pPr algn="ctr"/>
            <a:r>
              <a:rPr lang="en-US" sz="1200" b="0" dirty="0">
                <a:solidFill>
                  <a:srgbClr val="DCE6F1"/>
                </a:solidFill>
                <a:latin typeface="Aptos"/>
                <a:ea typeface="Aptos"/>
                <a:cs typeface="Aptos"/>
              </a:rPr>
              <a:t>State machine</a:t>
            </a:r>
          </a:p>
        </p:txBody>
      </p:sp>
      <p:sp>
        <p:nvSpPr>
          <p:cNvPr id="10" name="Motor driver"/>
          <p:cNvSpPr/>
          <p:nvPr/>
        </p:nvSpPr>
        <p:spPr>
          <a:xfrm>
            <a:off x="9756648" y="315468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Motor driver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Waveshare HAT (I2C)</a:t>
            </a:r>
          </a:p>
        </p:txBody>
      </p:sp>
      <p:cxnSp>
        <p:nvCxnSpPr>
          <p:cNvPr id="11" name="Arrow /image_raw"/>
          <p:cNvCxnSpPr/>
          <p:nvPr/>
        </p:nvCxnSpPr>
        <p:spPr>
          <a:xfrm>
            <a:off x="2752344" y="3575304"/>
            <a:ext cx="978408" cy="0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12" name="Topic /image_raw"/>
          <p:cNvSpPr txBox="1"/>
          <p:nvPr/>
        </p:nvSpPr>
        <p:spPr>
          <a:xfrm>
            <a:off x="2752344" y="3191256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/image_raw</a:t>
            </a:r>
          </a:p>
        </p:txBody>
      </p:sp>
      <p:cxnSp>
        <p:nvCxnSpPr>
          <p:cNvPr id="13" name="Arrow /signs"/>
          <p:cNvCxnSpPr/>
          <p:nvPr/>
        </p:nvCxnSpPr>
        <p:spPr>
          <a:xfrm>
            <a:off x="5742432" y="3575304"/>
            <a:ext cx="978408" cy="0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14" name="Topic /signs"/>
          <p:cNvSpPr txBox="1"/>
          <p:nvPr/>
        </p:nvSpPr>
        <p:spPr>
          <a:xfrm>
            <a:off x="5742432" y="3191256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/signs</a:t>
            </a:r>
          </a:p>
        </p:txBody>
      </p:sp>
      <p:cxnSp>
        <p:nvCxnSpPr>
          <p:cNvPr id="15" name="Arrow /cmd_vel"/>
          <p:cNvCxnSpPr/>
          <p:nvPr/>
        </p:nvCxnSpPr>
        <p:spPr>
          <a:xfrm>
            <a:off x="8732520" y="3575304"/>
            <a:ext cx="978408" cy="0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16" name="Topic /cmd_vel"/>
          <p:cNvSpPr txBox="1"/>
          <p:nvPr/>
        </p:nvSpPr>
        <p:spPr>
          <a:xfrm>
            <a:off x="8732520" y="3191256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/cmd_vel</a:t>
            </a:r>
          </a:p>
        </p:txBody>
      </p:sp>
      <p:sp>
        <p:nvSpPr>
          <p:cNvPr id="17" name="IMU"/>
          <p:cNvSpPr/>
          <p:nvPr/>
        </p:nvSpPr>
        <p:spPr>
          <a:xfrm>
            <a:off x="3776472" y="512064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IMU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IMU (I2C)</a:t>
            </a:r>
          </a:p>
        </p:txBody>
      </p:sp>
      <p:sp>
        <p:nvSpPr>
          <p:cNvPr id="18" name="LCD"/>
          <p:cNvSpPr/>
          <p:nvPr/>
        </p:nvSpPr>
        <p:spPr>
          <a:xfrm>
            <a:off x="6766560" y="512064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LCD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LCD display (I2C)</a:t>
            </a:r>
          </a:p>
        </p:txBody>
      </p:sp>
      <p:sp>
        <p:nvSpPr>
          <p:cNvPr id="19" name="Teleop"/>
          <p:cNvSpPr/>
          <p:nvPr/>
        </p:nvSpPr>
        <p:spPr>
          <a:xfrm>
            <a:off x="9756648" y="512064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Teleop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Laptop keyboard</a:t>
            </a:r>
          </a:p>
        </p:txBody>
      </p:sp>
      <p:cxnSp>
        <p:nvCxnSpPr>
          <p:cNvPr id="20" name="Arrow /imu"/>
          <p:cNvCxnSpPr/>
          <p:nvPr/>
        </p:nvCxnSpPr>
        <p:spPr>
          <a:xfrm flipV="1">
            <a:off x="5468112" y="4041648"/>
            <a:ext cx="1618488" cy="1033272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21" name="Topic /imu"/>
          <p:cNvSpPr txBox="1"/>
          <p:nvPr/>
        </p:nvSpPr>
        <p:spPr>
          <a:xfrm>
            <a:off x="6551676" y="45125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/imu</a:t>
            </a:r>
          </a:p>
        </p:txBody>
      </p:sp>
      <p:cxnSp>
        <p:nvCxnSpPr>
          <p:cNvPr id="22" name="Arrow /status"/>
          <p:cNvCxnSpPr/>
          <p:nvPr/>
        </p:nvCxnSpPr>
        <p:spPr>
          <a:xfrm>
            <a:off x="7955280" y="4041648"/>
            <a:ext cx="0" cy="1033272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23" name="Topic /status"/>
          <p:cNvSpPr txBox="1"/>
          <p:nvPr/>
        </p:nvSpPr>
        <p:spPr>
          <a:xfrm>
            <a:off x="8065008" y="44211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/status</a:t>
            </a:r>
          </a:p>
        </p:txBody>
      </p:sp>
      <p:cxnSp>
        <p:nvCxnSpPr>
          <p:cNvPr id="24" name="Arrow teleop"/>
          <p:cNvCxnSpPr/>
          <p:nvPr/>
        </p:nvCxnSpPr>
        <p:spPr>
          <a:xfrm flipV="1">
            <a:off x="10716768" y="4041648"/>
            <a:ext cx="0" cy="1033272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25" name="Topic /cmd_vel"/>
          <p:cNvSpPr txBox="1"/>
          <p:nvPr/>
        </p:nvSpPr>
        <p:spPr>
          <a:xfrm>
            <a:off x="10826496" y="42656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/cmd_vel</a:t>
            </a:r>
          </a:p>
        </p:txBody>
      </p:sp>
      <p:sp>
        <p:nvSpPr>
          <p:cNvPr id="26" name="Topic (manual)"/>
          <p:cNvSpPr txBox="1"/>
          <p:nvPr/>
        </p:nvSpPr>
        <p:spPr>
          <a:xfrm>
            <a:off x="10826496" y="45765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(manual)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Abigail Duran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b="1" dirty="0"/>
              <a:t>Goals for the week</a:t>
            </a:r>
            <a:endParaRPr lang="en-US" b="1" dirty="0"/>
          </a:p>
          <a:p>
            <a:pPr lvl="1"/>
            <a:r>
              <a:rPr lang="en-US" dirty="0"/>
              <a:t>Prepare the PCB design files with all currently selected components and required connections.</a:t>
            </a:r>
          </a:p>
          <a:p>
            <a:pPr lvl="1"/>
            <a:r>
              <a:rPr lang="en-US" dirty="0"/>
              <a:t>Make sure the schematic reflects the components planned for the current </a:t>
            </a:r>
            <a:r>
              <a:rPr lang="en-US" dirty="0" err="1"/>
              <a:t>BuggyBot</a:t>
            </a:r>
            <a:r>
              <a:rPr lang="en-US" dirty="0"/>
              <a:t> hardware setup.</a:t>
            </a:r>
          </a:p>
          <a:p>
            <a:r>
              <a:rPr lang="en-US" b="1" dirty="0"/>
              <a:t>Progress for the week</a:t>
            </a:r>
          </a:p>
          <a:p>
            <a:pPr lvl="1"/>
            <a:r>
              <a:rPr lang="en-US" dirty="0"/>
              <a:t>Created an organized component checklist/spreadsheet for the PCB design. </a:t>
            </a:r>
          </a:p>
          <a:p>
            <a:pPr lvl="1"/>
            <a:r>
              <a:rPr lang="en-US" dirty="0"/>
              <a:t>Reviewed the CM5 IO Board components and connections to determine which features should be kept, removed, or modified.</a:t>
            </a:r>
          </a:p>
          <a:p>
            <a:pPr lvl="1"/>
            <a:r>
              <a:rPr lang="en-US" dirty="0"/>
              <a:t>Added IMU and LCD connectors on the board.</a:t>
            </a:r>
          </a:p>
          <a:p>
            <a:r>
              <a:rPr lang="en-US" b="1" dirty="0"/>
              <a:t>Goals for next week</a:t>
            </a:r>
            <a:r>
              <a:rPr lang="en-US" dirty="0"/>
              <a:t>​​​</a:t>
            </a:r>
          </a:p>
          <a:p>
            <a:pPr lvl="1"/>
            <a:r>
              <a:rPr lang="en-US" dirty="0"/>
              <a:t>Continue developing the PCB design and component placement.</a:t>
            </a:r>
          </a:p>
          <a:p>
            <a:pPr lvl="1"/>
            <a:r>
              <a:rPr lang="en-US" dirty="0"/>
              <a:t>Work toward finalizing the PCB design for manufacturing.</a:t>
            </a:r>
            <a:endParaRPr dirty="0"/>
          </a:p>
          <a:p>
            <a:r>
              <a:rPr b="1" dirty="0"/>
              <a:t>Hours spent on progress</a:t>
            </a:r>
          </a:p>
          <a:p>
            <a:pPr lvl="1"/>
            <a:r>
              <a:rPr lang="en-US" dirty="0"/>
              <a:t>6 hours​</a:t>
            </a:r>
          </a:p>
          <a:p>
            <a:pPr lvl="1"/>
            <a:endParaRPr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>
            <a:extLst>
              <a:ext uri="{FF2B5EF4-FFF2-40B4-BE49-F238E27FC236}">
                <a16:creationId xmlns:a16="http://schemas.microsoft.com/office/drawing/2014/main" id="{B71870F1-2187-FBD8-D06D-8778AEBE1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71" y="1531408"/>
            <a:ext cx="9507257" cy="37951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04F76B-D95C-4864-55C7-06717C4B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797" y="451083"/>
            <a:ext cx="9538406" cy="59558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286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Self Driving RC Car</vt:lpstr>
      <vt:lpstr>Ethan Wells</vt:lpstr>
      <vt:lpstr>Alexis Perez</vt:lpstr>
      <vt:lpstr>Ethan Bishop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Bishop, Ethan</cp:lastModifiedBy>
  <cp:revision>6</cp:revision>
  <dcterms:created xsi:type="dcterms:W3CDTF">2026-09-10T19:13:21Z</dcterms:created>
  <dcterms:modified xsi:type="dcterms:W3CDTF">2026-09-14T20:13:33Z</dcterms:modified>
</cp:coreProperties>
</file>