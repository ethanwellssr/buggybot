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Test recall</c:v>
          </c:tx>
          <c:spPr>
            <a:solidFill>
              <a:srgbClr val="4A4A4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>
                    <a:solidFill>
                      <a:srgbClr val="111111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Data'!$A$2:$A$13</c:f>
              <c:strCache>
                <c:ptCount val="12"/>
                <c:pt idx="0">
                  <c:v>Added Lane</c:v>
                </c:pt>
                <c:pt idx="1">
                  <c:v>Keep Right</c:v>
                </c:pt>
                <c:pt idx="2">
                  <c:v>Merge</c:v>
                </c:pt>
                <c:pt idx="3">
                  <c:v>Pedestrian</c:v>
                </c:pt>
                <c:pt idx="4">
                  <c:v>School</c:v>
                </c:pt>
                <c:pt idx="5">
                  <c:v>Signal Ahead</c:v>
                </c:pt>
                <c:pt idx="6">
                  <c:v>Speed 25</c:v>
                </c:pt>
                <c:pt idx="7">
                  <c:v>Speed 30</c:v>
                </c:pt>
                <c:pt idx="8">
                  <c:v>Speed 35</c:v>
                </c:pt>
                <c:pt idx="9">
                  <c:v>Speed 45</c:v>
                </c:pt>
                <c:pt idx="10">
                  <c:v>Speed 65</c:v>
                </c:pt>
                <c:pt idx="11">
                  <c:v>Stop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52.6</c:v>
                </c:pt>
                <c:pt idx="3">
                  <c:v>78.900000000000006</c:v>
                </c:pt>
                <c:pt idx="4">
                  <c:v>63.6</c:v>
                </c:pt>
                <c:pt idx="5">
                  <c:v>93.4</c:v>
                </c:pt>
                <c:pt idx="6">
                  <c:v>100</c:v>
                </c:pt>
                <c:pt idx="7">
                  <c:v>71.400000000000006</c:v>
                </c:pt>
                <c:pt idx="8">
                  <c:v>76.5</c:v>
                </c:pt>
                <c:pt idx="9">
                  <c:v>84</c:v>
                </c:pt>
                <c:pt idx="10">
                  <c:v>100</c:v>
                </c:pt>
                <c:pt idx="11">
                  <c:v>98.6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7E3-2A46-AB46-E43CA9D2C3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777777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777777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180D-72B0-0C13-F230-21B8B8B6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C378E-EE98-1B55-9295-03ABC4ED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34A12-2077-3E3B-D583-A00728B4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8FBF-057B-A479-DCE6-D7ED5856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DF4C-4E4F-3108-DB8F-5ACB935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1FEE-5B09-2330-864B-B72607D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C06C-00B4-D7B9-B6C6-CD771281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24CEA-F28D-B7D5-427E-4CC7DD62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C963-C98F-0C85-FBF7-13C0E6DD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F67A-B033-2932-80B2-46B71C6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A5708-F22F-F62A-CF4E-F30481AE4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8863E-39E4-EC1A-6863-75B737CD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69DE7-2497-E6E8-3696-1E2DF46D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25CA-486E-0FC9-2FF8-41F8E6D7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0060-0374-6222-A5F8-E52287F3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3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67C1-8848-A8C9-BD04-720AE50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A6D0A-9543-76B0-4EDF-CF699CAC6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23278-5B1C-F01A-1440-2BB3B993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6BAE5-DDFC-22B4-A631-018AAEDE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E731-B3C0-F385-A880-4D3A1002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E8D2-CD2B-0D84-57C3-5DE99B8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5CB7-7D54-6838-F819-23471EF5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71962-60F9-1C85-E392-990E8B225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A42645-00FA-8C8D-1F86-DE7FEF8DF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9ACA2-2971-30A3-5C79-0A10ADA81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A05D9-9B11-30B9-720D-241432374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DA98A-7032-8781-9496-59CB5A7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B4E98-F221-32D5-3DF0-8E8B9271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7C03-E36A-88DE-1B36-11E590CE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5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C65C-0FDF-A6EB-A34A-C07CA3FE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AC3B4-10B3-4D7D-083F-C369B5F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5C7DC-0E4D-ED75-4301-A4F622E8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CEEF8-641C-A099-F5E2-34FE37B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05337-945A-C035-FA8C-6063786D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891C2-4E0E-CB59-3ACA-891A29B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13169-DE32-FEBA-4AA2-B660D926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40ED-DC71-A0CD-3F7F-C0C61AB7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9BA11-C591-7871-A3DF-4AECCF06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603B-75B3-5707-DBA5-EF296E030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F9DA-15C7-0612-CB70-C9ED444A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8C89A-1BB7-8571-AF22-95B709D1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FA3A-AADB-3247-8AB1-AF7E2ABE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9-957F-C15B-3117-98E33BB4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E2E3-9E87-028C-53BB-A6C06D41A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042E9-97CD-6650-E267-BA8226213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42AD-80E3-360E-9C0A-4D29888A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8F27E-3794-2C19-8A24-28D863A9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A9699-2492-5007-F8AA-AEDC3B38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F108-774B-2270-38D4-FEB1AA7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5393D-D63A-5579-E9F6-A7F2F6F1A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7CB4-8585-781D-CA8D-7C4BFF81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6CC0-6992-B8E7-EB13-34FFE859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3D64-9378-E592-75CF-038E7F60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4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52345-DBD5-1365-F4D0-09BA808C4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5E6CC-A3E9-A10D-7AC5-BF3FE04A2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36B43-1715-D9A2-2B60-4BBBB253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9F1F-EDBD-85FC-8E98-B7DEB8A6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9C90-2A51-AFA6-3CF2-A8EC2C06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3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9D4BC-FC6E-7B20-4BC5-6311FED9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D281F-9F8E-740C-3B8A-60C59CFCE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D0AEE-BF8C-D1EF-A2A9-3EFCEADF8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6B35-DAD5-CF47-9E65-9CA12B499D8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CC73-6335-926B-4C9E-B65D5ECB1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51B3-DB78-34D0-A11A-FC441B1B3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EC5D6-D82C-134B-A749-23F6FB860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A721F44-0F89-2513-F790-DC10E5539F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 Driving RC Car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58BE3-2195-6F0C-E9CC-BEDF5180D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Ethan Wells</a:t>
            </a:r>
          </a:p>
          <a:p>
            <a:r>
              <a:rPr lang="en-US" dirty="0"/>
              <a:t>Abigail Duran</a:t>
            </a:r>
          </a:p>
          <a:p>
            <a:r>
              <a:rPr lang="en-US" dirty="0"/>
              <a:t>Ethan Bishop</a:t>
            </a:r>
          </a:p>
          <a:p>
            <a:r>
              <a:rPr lang="en-US" dirty="0"/>
              <a:t>Alexis Perez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slide-title">
            <a:extLst>
              <a:ext uri="{FF2B5EF4-FFF2-40B4-BE49-F238E27FC236}">
                <a16:creationId xmlns:a16="http://schemas.microsoft.com/office/drawing/2014/main" id="{B2B79A4A-5F48-4F8C-95D6-B925E3164B2D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42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Ethan Wells</a:t>
            </a:r>
          </a:p>
        </p:txBody>
      </p:sp>
      <p:sp>
        <p:nvSpPr>
          <p:cNvPr id="2" name="section-goals-for-the-week">
            <a:extLst>
              <a:ext uri="{FF2B5EF4-FFF2-40B4-BE49-F238E27FC236}">
                <a16:creationId xmlns:a16="http://schemas.microsoft.com/office/drawing/2014/main" id="{D695EA51-DF94-4706-B740-AAEF12FBA793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Goals for the week</a:t>
            </a:r>
          </a:p>
        </p:txBody>
      </p:sp>
      <p:sp>
        <p:nvSpPr>
          <p:cNvPr id="3" name="week7-goals">
            <a:extLst>
              <a:ext uri="{FF2B5EF4-FFF2-40B4-BE49-F238E27FC236}">
                <a16:creationId xmlns:a16="http://schemas.microsoft.com/office/drawing/2014/main" id="{F34356FF-7AEF-48B2-891A-1E3B171587D6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00000"/>
                </a:solidFill>
                <a:latin typeface="Aptos"/>
                <a:ea typeface="Aptos"/>
                <a:cs typeface="Aptos"/>
              </a:rPr>
              <a:t>Train and test a CNN on the prepared LISA sign dataset.</a:t>
            </a:r>
          </a:p>
        </p:txBody>
      </p:sp>
      <p:sp>
        <p:nvSpPr>
          <p:cNvPr id="4" name="section-progress-for-the-week">
            <a:extLst>
              <a:ext uri="{FF2B5EF4-FFF2-40B4-BE49-F238E27FC236}">
                <a16:creationId xmlns:a16="http://schemas.microsoft.com/office/drawing/2014/main" id="{A60F2C09-C968-42DD-92C0-6839F067AA8F}"/>
              </a:ext>
            </a:extLst>
          </p:cNvPr>
          <p:cNvSpPr>
            <a:spLocks noGrp="1"/>
          </p:cNvSpPr>
          <p:nvPr/>
        </p:nvSpPr>
        <p:spPr>
          <a:xfrm>
            <a:off x="762000" y="243840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Progress for the week</a:t>
            </a:r>
          </a:p>
        </p:txBody>
      </p:sp>
      <p:sp>
        <p:nvSpPr>
          <p:cNvPr id="5" name="week7-progress">
            <a:extLst>
              <a:ext uri="{FF2B5EF4-FFF2-40B4-BE49-F238E27FC236}">
                <a16:creationId xmlns:a16="http://schemas.microsoft.com/office/drawing/2014/main" id="{1266AE4D-44FD-4BAC-B49F-E3B95A24F6F9}"/>
              </a:ext>
            </a:extLst>
          </p:cNvPr>
          <p:cNvSpPr>
            <a:spLocks noGrp="1"/>
          </p:cNvSpPr>
          <p:nvPr/>
        </p:nvSpPr>
        <p:spPr>
          <a:xfrm>
            <a:off x="838200" y="2819400"/>
            <a:ext cx="104775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00000"/>
                </a:solidFill>
                <a:latin typeface="Aptos"/>
                <a:ea typeface="Aptos"/>
                <a:cs typeface="Aptos"/>
              </a:rPr>
              <a:t>Trained and tested the LISA model: 89.90% top-1 (525 of 584 test crops) and 84.93% macro class accuracy.</a:t>
            </a:r>
          </a:p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00000"/>
                </a:solidFill>
                <a:latin typeface="Aptos"/>
                <a:ea typeface="Aptos"/>
                <a:cs typeface="Aptos"/>
              </a:rPr>
              <a:t>Reviewed per-class results and found limited, uneven training data, including few independent sign tracks for several classes.</a:t>
            </a:r>
          </a:p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000000"/>
                </a:solidFill>
                <a:latin typeface="Aptos"/>
                <a:ea typeface="Aptos"/>
                <a:cs typeface="Aptos"/>
              </a:rPr>
              <a:t>Sourced Mapillary data and prepared 3,449 crops for the same 12 classes: 2,655 train, 362 validation, and 432 test.</a:t>
            </a:r>
          </a:p>
        </p:txBody>
      </p:sp>
      <p:sp>
        <p:nvSpPr>
          <p:cNvPr id="6" name="section-goals-for-next-week">
            <a:extLst>
              <a:ext uri="{FF2B5EF4-FFF2-40B4-BE49-F238E27FC236}">
                <a16:creationId xmlns:a16="http://schemas.microsoft.com/office/drawing/2014/main" id="{D868C7A5-2C2A-4AB8-A115-2B857D2BCB8D}"/>
              </a:ext>
            </a:extLst>
          </p:cNvPr>
          <p:cNvSpPr>
            <a:spLocks noGrp="1"/>
          </p:cNvSpPr>
          <p:nvPr/>
        </p:nvSpPr>
        <p:spPr>
          <a:xfrm>
            <a:off x="762000" y="3919537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Goals for next week</a:t>
            </a:r>
          </a:p>
        </p:txBody>
      </p:sp>
      <p:sp>
        <p:nvSpPr>
          <p:cNvPr id="7" name="week7-next-goals">
            <a:extLst>
              <a:ext uri="{FF2B5EF4-FFF2-40B4-BE49-F238E27FC236}">
                <a16:creationId xmlns:a16="http://schemas.microsoft.com/office/drawing/2014/main" id="{9995E687-CADA-4F6C-9CD4-273839F63FC8}"/>
              </a:ext>
            </a:extLst>
          </p:cNvPr>
          <p:cNvSpPr>
            <a:spLocks noGrp="1"/>
          </p:cNvSpPr>
          <p:nvPr/>
        </p:nvSpPr>
        <p:spPr>
          <a:xfrm>
            <a:off x="838200" y="4360069"/>
            <a:ext cx="1047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Train and test a model on the prepared </a:t>
            </a:r>
            <a:r>
              <a:rPr sz="1425" dirty="0" err="1">
                <a:solidFill>
                  <a:srgbClr val="000000"/>
                </a:solidFill>
                <a:latin typeface="Aptos"/>
                <a:ea typeface="Aptos"/>
                <a:cs typeface="Aptos"/>
              </a:rPr>
              <a:t>Mapillary</a:t>
            </a:r>
            <a:r>
              <a:rPr sz="14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data.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If time allows, combine the LISA and </a:t>
            </a:r>
            <a:r>
              <a:rPr sz="1425" dirty="0" err="1">
                <a:solidFill>
                  <a:srgbClr val="000000"/>
                </a:solidFill>
                <a:latin typeface="Aptos"/>
                <a:ea typeface="Aptos"/>
                <a:cs typeface="Aptos"/>
              </a:rPr>
              <a:t>Mapillary</a:t>
            </a:r>
            <a:r>
              <a:rPr sz="142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datasets, then train and test the combined model.</a:t>
            </a:r>
          </a:p>
        </p:txBody>
      </p:sp>
      <p:sp>
        <p:nvSpPr>
          <p:cNvPr id="8" name="hours">
            <a:extLst>
              <a:ext uri="{FF2B5EF4-FFF2-40B4-BE49-F238E27FC236}">
                <a16:creationId xmlns:a16="http://schemas.microsoft.com/office/drawing/2014/main" id="{CF43D2E0-B715-4D97-84BA-CF4F5F33C417}"/>
              </a:ext>
            </a:extLst>
          </p:cNvPr>
          <p:cNvSpPr>
            <a:spLocks noGrp="1"/>
          </p:cNvSpPr>
          <p:nvPr/>
        </p:nvSpPr>
        <p:spPr>
          <a:xfrm>
            <a:off x="762000" y="5064919"/>
            <a:ext cx="666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57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Hours spent on progress: 7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slide-title">
            <a:extLst>
              <a:ext uri="{FF2B5EF4-FFF2-40B4-BE49-F238E27FC236}">
                <a16:creationId xmlns:a16="http://schemas.microsoft.com/office/drawing/2014/main" id="{E20E7FBC-A104-459D-8712-E3C3F70ABA5D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42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LISA Model Results</a:t>
            </a:r>
          </a:p>
        </p:txBody>
      </p:sp>
      <p:sp>
        <p:nvSpPr>
          <p:cNvPr id="2" name="chart-caption">
            <a:extLst>
              <a:ext uri="{FF2B5EF4-FFF2-40B4-BE49-F238E27FC236}">
                <a16:creationId xmlns:a16="http://schemas.microsoft.com/office/drawing/2014/main" id="{0B0290F6-0F6B-4067-8388-43F8C6332CE7}"/>
              </a:ext>
            </a:extLst>
          </p:cNvPr>
          <p:cNvSpPr>
            <a:spLocks noGrp="1"/>
          </p:cNvSpPr>
          <p:nvPr/>
        </p:nvSpPr>
        <p:spPr>
          <a:xfrm>
            <a:off x="704850" y="1438275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Test recall by class (%)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514350" y="1790700"/>
          <a:ext cx="7696200" cy="41433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misclassified-header">
            <a:extLst>
              <a:ext uri="{FF2B5EF4-FFF2-40B4-BE49-F238E27FC236}">
                <a16:creationId xmlns:a16="http://schemas.microsoft.com/office/drawing/2014/main" id="{59CD83B1-128B-4EA9-A1E9-FF4379B79456}"/>
              </a:ext>
            </a:extLst>
          </p:cNvPr>
          <p:cNvSpPr>
            <a:spLocks noGrp="1"/>
          </p:cNvSpPr>
          <p:nvPr/>
        </p:nvSpPr>
        <p:spPr>
          <a:xfrm>
            <a:off x="8515350" y="14859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Misclassified test crops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48688" y="2000250"/>
            <a:ext cx="1000125" cy="1000125"/>
          </a:xfrm>
          <a:prstGeom prst="rect">
            <a:avLst/>
          </a:prstGeom>
        </p:spPr>
      </p:pic>
      <p:sp>
        <p:nvSpPr>
          <p:cNvPr id="6" name="error-caption-1">
            <a:extLst>
              <a:ext uri="{FF2B5EF4-FFF2-40B4-BE49-F238E27FC236}">
                <a16:creationId xmlns:a16="http://schemas.microsoft.com/office/drawing/2014/main" id="{57B1AAED-DFE6-4AF3-9636-A3A7DA69E226}"/>
              </a:ext>
            </a:extLst>
          </p:cNvPr>
          <p:cNvSpPr>
            <a:spLocks noGrp="1"/>
          </p:cNvSpPr>
          <p:nvPr/>
        </p:nvSpPr>
        <p:spPr>
          <a:xfrm>
            <a:off x="9715500" y="2076450"/>
            <a:ext cx="1952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True: Merge</a:t>
            </a:r>
          </a:p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Predicted: Added Lane</a:t>
            </a:r>
          </a:p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Recall: 52.6% (10/19)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48688" y="3371850"/>
            <a:ext cx="1000125" cy="1000125"/>
          </a:xfrm>
          <a:prstGeom prst="rect">
            <a:avLst/>
          </a:prstGeom>
        </p:spPr>
      </p:pic>
      <p:sp>
        <p:nvSpPr>
          <p:cNvPr id="8" name="error-caption-2">
            <a:extLst>
              <a:ext uri="{FF2B5EF4-FFF2-40B4-BE49-F238E27FC236}">
                <a16:creationId xmlns:a16="http://schemas.microsoft.com/office/drawing/2014/main" id="{7EC912E9-52EA-4CA6-AB05-7E6E8916C6F7}"/>
              </a:ext>
            </a:extLst>
          </p:cNvPr>
          <p:cNvSpPr>
            <a:spLocks noGrp="1"/>
          </p:cNvSpPr>
          <p:nvPr/>
        </p:nvSpPr>
        <p:spPr>
          <a:xfrm>
            <a:off x="9715500" y="3448050"/>
            <a:ext cx="1952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True: School</a:t>
            </a:r>
          </a:p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Predicted: Pedestrian Crossing</a:t>
            </a:r>
          </a:p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Recall: 63.6% (7/11)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48688" y="4743450"/>
            <a:ext cx="1000125" cy="1000125"/>
          </a:xfrm>
          <a:prstGeom prst="rect">
            <a:avLst/>
          </a:prstGeom>
        </p:spPr>
      </p:pic>
      <p:sp>
        <p:nvSpPr>
          <p:cNvPr id="10" name="error-caption-3">
            <a:extLst>
              <a:ext uri="{FF2B5EF4-FFF2-40B4-BE49-F238E27FC236}">
                <a16:creationId xmlns:a16="http://schemas.microsoft.com/office/drawing/2014/main" id="{126093DC-4B25-463C-8069-2FF62759B879}"/>
              </a:ext>
            </a:extLst>
          </p:cNvPr>
          <p:cNvSpPr>
            <a:spLocks noGrp="1"/>
          </p:cNvSpPr>
          <p:nvPr/>
        </p:nvSpPr>
        <p:spPr>
          <a:xfrm>
            <a:off x="9715500" y="4819650"/>
            <a:ext cx="19526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True: Speed Limit 30</a:t>
            </a:r>
          </a:p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Predicted: Speed Limit 35</a:t>
            </a:r>
          </a:p>
          <a:p>
            <a:pPr>
              <a:defRPr sz="135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000000"/>
                </a:solidFill>
                <a:latin typeface="Aptos"/>
                <a:ea typeface="Aptos"/>
                <a:cs typeface="Aptos"/>
              </a:rPr>
              <a:t>Recall: 71.4% (15/21)</a:t>
            </a:r>
          </a:p>
        </p:txBody>
      </p:sp>
      <p:sp>
        <p:nvSpPr>
          <p:cNvPr id="11" name="lisa-overall">
            <a:extLst>
              <a:ext uri="{FF2B5EF4-FFF2-40B4-BE49-F238E27FC236}">
                <a16:creationId xmlns:a16="http://schemas.microsoft.com/office/drawing/2014/main" id="{7C702B46-6420-4866-BCE6-20C9D9CE06D4}"/>
              </a:ext>
            </a:extLst>
          </p:cNvPr>
          <p:cNvSpPr>
            <a:spLocks noGrp="1"/>
          </p:cNvSpPr>
          <p:nvPr/>
        </p:nvSpPr>
        <p:spPr>
          <a:xfrm>
            <a:off x="704850" y="6048375"/>
            <a:ext cx="7429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Overall: 89.90% top-1 · 84.93% macro class accuracy</a:t>
            </a:r>
          </a:p>
        </p:txBody>
      </p:sp>
      <p:sp>
        <p:nvSpPr>
          <p:cNvPr id="12" name="lisa-camera-caveat">
            <a:extLst>
              <a:ext uri="{FF2B5EF4-FFF2-40B4-BE49-F238E27FC236}">
                <a16:creationId xmlns:a16="http://schemas.microsoft.com/office/drawing/2014/main" id="{8176778B-AF40-4253-8403-673150E56E3C}"/>
              </a:ext>
            </a:extLst>
          </p:cNvPr>
          <p:cNvSpPr>
            <a:spLocks noGrp="1"/>
          </p:cNvSpPr>
          <p:nvPr/>
        </p:nvSpPr>
        <p:spPr>
          <a:xfrm>
            <a:off x="704850" y="6343650"/>
            <a:ext cx="7667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2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000000"/>
                </a:solidFill>
                <a:latin typeface="Aptos"/>
                <a:ea typeface="Aptos"/>
                <a:cs typeface="Aptos"/>
              </a:rPr>
              <a:t>Test scores use prepared crops; they do not measure BuggyBot’s live camera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slide-title">
            <a:extLst>
              <a:ext uri="{FF2B5EF4-FFF2-40B4-BE49-F238E27FC236}">
                <a16:creationId xmlns:a16="http://schemas.microsoft.com/office/drawing/2014/main" id="{D69184A5-FC43-46B3-822B-E7045C706EDB}"/>
              </a:ext>
            </a:extLst>
          </p:cNvPr>
          <p:cNvSpPr>
            <a:spLocks noGrp="1"/>
          </p:cNvSpPr>
          <p:nvPr/>
        </p:nvSpPr>
        <p:spPr>
          <a:xfrm>
            <a:off x="914400" y="590550"/>
            <a:ext cx="10668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42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Mapillary Data Preparation</a:t>
            </a:r>
          </a:p>
        </p:txBody>
      </p:sp>
      <p:sp>
        <p:nvSpPr>
          <p:cNvPr id="2" name="mapillary-gallery-label">
            <a:extLst>
              <a:ext uri="{FF2B5EF4-FFF2-40B4-BE49-F238E27FC236}">
                <a16:creationId xmlns:a16="http://schemas.microsoft.com/office/drawing/2014/main" id="{7649E00A-9F17-4050-BC07-1A6FDB7359C2}"/>
              </a:ext>
            </a:extLst>
          </p:cNvPr>
          <p:cNvSpPr>
            <a:spLocks noGrp="1"/>
          </p:cNvSpPr>
          <p:nvPr/>
        </p:nvSpPr>
        <p:spPr>
          <a:xfrm>
            <a:off x="666750" y="14478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4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Prepared training crops · one example per class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4375" y="1933575"/>
            <a:ext cx="914400" cy="914400"/>
          </a:xfrm>
          <a:prstGeom prst="rect">
            <a:avLst/>
          </a:prstGeom>
        </p:spPr>
      </p:pic>
      <p:sp>
        <p:nvSpPr>
          <p:cNvPr id="4" name="mapillary-label-addedLane">
            <a:extLst>
              <a:ext uri="{FF2B5EF4-FFF2-40B4-BE49-F238E27FC236}">
                <a16:creationId xmlns:a16="http://schemas.microsoft.com/office/drawing/2014/main" id="{3744D9A2-08AE-47BC-9AAE-8592BBE4527B}"/>
              </a:ext>
            </a:extLst>
          </p:cNvPr>
          <p:cNvSpPr>
            <a:spLocks noGrp="1"/>
          </p:cNvSpPr>
          <p:nvPr/>
        </p:nvSpPr>
        <p:spPr>
          <a:xfrm>
            <a:off x="628650" y="28765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Added Lane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914525" y="1933575"/>
            <a:ext cx="914400" cy="914400"/>
          </a:xfrm>
          <a:prstGeom prst="rect">
            <a:avLst/>
          </a:prstGeom>
        </p:spPr>
      </p:pic>
      <p:sp>
        <p:nvSpPr>
          <p:cNvPr id="6" name="mapillary-label-keepRight">
            <a:extLst>
              <a:ext uri="{FF2B5EF4-FFF2-40B4-BE49-F238E27FC236}">
                <a16:creationId xmlns:a16="http://schemas.microsoft.com/office/drawing/2014/main" id="{4733F377-7801-4ACA-95CB-FB4F842908C5}"/>
              </a:ext>
            </a:extLst>
          </p:cNvPr>
          <p:cNvSpPr>
            <a:spLocks noGrp="1"/>
          </p:cNvSpPr>
          <p:nvPr/>
        </p:nvSpPr>
        <p:spPr>
          <a:xfrm>
            <a:off x="1828800" y="28765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Keep Right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114675" y="1933575"/>
            <a:ext cx="914400" cy="914400"/>
          </a:xfrm>
          <a:prstGeom prst="rect">
            <a:avLst/>
          </a:prstGeom>
        </p:spPr>
      </p:pic>
      <p:sp>
        <p:nvSpPr>
          <p:cNvPr id="8" name="mapillary-label-merge">
            <a:extLst>
              <a:ext uri="{FF2B5EF4-FFF2-40B4-BE49-F238E27FC236}">
                <a16:creationId xmlns:a16="http://schemas.microsoft.com/office/drawing/2014/main" id="{69F98927-4EBA-493E-9E97-A7CEBD266CA0}"/>
              </a:ext>
            </a:extLst>
          </p:cNvPr>
          <p:cNvSpPr>
            <a:spLocks noGrp="1"/>
          </p:cNvSpPr>
          <p:nvPr/>
        </p:nvSpPr>
        <p:spPr>
          <a:xfrm>
            <a:off x="3028950" y="28765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Merge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314825" y="1933575"/>
            <a:ext cx="914400" cy="914400"/>
          </a:xfrm>
          <a:prstGeom prst="rect">
            <a:avLst/>
          </a:prstGeom>
        </p:spPr>
      </p:pic>
      <p:sp>
        <p:nvSpPr>
          <p:cNvPr id="10" name="mapillary-label-pedestrianCrossing">
            <a:extLst>
              <a:ext uri="{FF2B5EF4-FFF2-40B4-BE49-F238E27FC236}">
                <a16:creationId xmlns:a16="http://schemas.microsoft.com/office/drawing/2014/main" id="{19EA3CE1-EB3E-4AF6-8E58-5A1B79BA8E7B}"/>
              </a:ext>
            </a:extLst>
          </p:cNvPr>
          <p:cNvSpPr>
            <a:spLocks noGrp="1"/>
          </p:cNvSpPr>
          <p:nvPr/>
        </p:nvSpPr>
        <p:spPr>
          <a:xfrm>
            <a:off x="4229100" y="28765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Pedestrian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" y="3190875"/>
            <a:ext cx="914400" cy="914400"/>
          </a:xfrm>
          <a:prstGeom prst="rect">
            <a:avLst/>
          </a:prstGeom>
        </p:spPr>
      </p:pic>
      <p:sp>
        <p:nvSpPr>
          <p:cNvPr id="12" name="mapillary-label-school">
            <a:extLst>
              <a:ext uri="{FF2B5EF4-FFF2-40B4-BE49-F238E27FC236}">
                <a16:creationId xmlns:a16="http://schemas.microsoft.com/office/drawing/2014/main" id="{33B383A7-8C2B-4EEC-83E3-6D32ACFB8C14}"/>
              </a:ext>
            </a:extLst>
          </p:cNvPr>
          <p:cNvSpPr>
            <a:spLocks noGrp="1"/>
          </p:cNvSpPr>
          <p:nvPr/>
        </p:nvSpPr>
        <p:spPr>
          <a:xfrm>
            <a:off x="628650" y="41338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School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914525" y="3190875"/>
            <a:ext cx="914400" cy="914400"/>
          </a:xfrm>
          <a:prstGeom prst="rect">
            <a:avLst/>
          </a:prstGeom>
        </p:spPr>
      </p:pic>
      <p:sp>
        <p:nvSpPr>
          <p:cNvPr id="14" name="mapillary-label-signalAhead">
            <a:extLst>
              <a:ext uri="{FF2B5EF4-FFF2-40B4-BE49-F238E27FC236}">
                <a16:creationId xmlns:a16="http://schemas.microsoft.com/office/drawing/2014/main" id="{ECF62389-CE52-4C5F-9DE3-ABAD75BA0164}"/>
              </a:ext>
            </a:extLst>
          </p:cNvPr>
          <p:cNvSpPr>
            <a:spLocks noGrp="1"/>
          </p:cNvSpPr>
          <p:nvPr/>
        </p:nvSpPr>
        <p:spPr>
          <a:xfrm>
            <a:off x="1828800" y="41338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Signal Ahead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3114675" y="3190875"/>
            <a:ext cx="914400" cy="914400"/>
          </a:xfrm>
          <a:prstGeom prst="rect">
            <a:avLst/>
          </a:prstGeom>
        </p:spPr>
      </p:pic>
      <p:sp>
        <p:nvSpPr>
          <p:cNvPr id="16" name="mapillary-label-speedLimit25">
            <a:extLst>
              <a:ext uri="{FF2B5EF4-FFF2-40B4-BE49-F238E27FC236}">
                <a16:creationId xmlns:a16="http://schemas.microsoft.com/office/drawing/2014/main" id="{1120D8E3-41E7-40E0-838D-9DB4E581937C}"/>
              </a:ext>
            </a:extLst>
          </p:cNvPr>
          <p:cNvSpPr>
            <a:spLocks noGrp="1"/>
          </p:cNvSpPr>
          <p:nvPr/>
        </p:nvSpPr>
        <p:spPr>
          <a:xfrm>
            <a:off x="3028950" y="41338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Speed 25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314825" y="3190875"/>
            <a:ext cx="914400" cy="914400"/>
          </a:xfrm>
          <a:prstGeom prst="rect">
            <a:avLst/>
          </a:prstGeom>
        </p:spPr>
      </p:pic>
      <p:sp>
        <p:nvSpPr>
          <p:cNvPr id="18" name="mapillary-label-speedLimit30">
            <a:extLst>
              <a:ext uri="{FF2B5EF4-FFF2-40B4-BE49-F238E27FC236}">
                <a16:creationId xmlns:a16="http://schemas.microsoft.com/office/drawing/2014/main" id="{6E936109-9D79-42C6-BF3C-50B9EA2629D6}"/>
              </a:ext>
            </a:extLst>
          </p:cNvPr>
          <p:cNvSpPr>
            <a:spLocks noGrp="1"/>
          </p:cNvSpPr>
          <p:nvPr/>
        </p:nvSpPr>
        <p:spPr>
          <a:xfrm>
            <a:off x="4229100" y="41338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Speed 30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14375" y="4448175"/>
            <a:ext cx="914400" cy="914400"/>
          </a:xfrm>
          <a:prstGeom prst="rect">
            <a:avLst/>
          </a:prstGeom>
        </p:spPr>
      </p:pic>
      <p:sp>
        <p:nvSpPr>
          <p:cNvPr id="20" name="mapillary-label-speedLimit35">
            <a:extLst>
              <a:ext uri="{FF2B5EF4-FFF2-40B4-BE49-F238E27FC236}">
                <a16:creationId xmlns:a16="http://schemas.microsoft.com/office/drawing/2014/main" id="{4EDFB993-2D80-46F6-A687-8F9FAF7865D1}"/>
              </a:ext>
            </a:extLst>
          </p:cNvPr>
          <p:cNvSpPr>
            <a:spLocks noGrp="1"/>
          </p:cNvSpPr>
          <p:nvPr/>
        </p:nvSpPr>
        <p:spPr>
          <a:xfrm>
            <a:off x="628650" y="53911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Speed 35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914525" y="4448175"/>
            <a:ext cx="914400" cy="914400"/>
          </a:xfrm>
          <a:prstGeom prst="rect">
            <a:avLst/>
          </a:prstGeom>
        </p:spPr>
      </p:pic>
      <p:sp>
        <p:nvSpPr>
          <p:cNvPr id="22" name="mapillary-label-speedLimit45">
            <a:extLst>
              <a:ext uri="{FF2B5EF4-FFF2-40B4-BE49-F238E27FC236}">
                <a16:creationId xmlns:a16="http://schemas.microsoft.com/office/drawing/2014/main" id="{5E058768-7BA2-4BAD-A7C1-91BAB5B352AB}"/>
              </a:ext>
            </a:extLst>
          </p:cNvPr>
          <p:cNvSpPr>
            <a:spLocks noGrp="1"/>
          </p:cNvSpPr>
          <p:nvPr/>
        </p:nvSpPr>
        <p:spPr>
          <a:xfrm>
            <a:off x="1828800" y="53911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Speed 45</a:t>
            </a: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14675" y="4448175"/>
            <a:ext cx="914400" cy="914400"/>
          </a:xfrm>
          <a:prstGeom prst="rect">
            <a:avLst/>
          </a:prstGeom>
        </p:spPr>
      </p:pic>
      <p:sp>
        <p:nvSpPr>
          <p:cNvPr id="24" name="mapillary-label-speedLimit65">
            <a:extLst>
              <a:ext uri="{FF2B5EF4-FFF2-40B4-BE49-F238E27FC236}">
                <a16:creationId xmlns:a16="http://schemas.microsoft.com/office/drawing/2014/main" id="{1E08C660-E9CB-4BEE-A4EA-3FA8509D4DEC}"/>
              </a:ext>
            </a:extLst>
          </p:cNvPr>
          <p:cNvSpPr>
            <a:spLocks noGrp="1"/>
          </p:cNvSpPr>
          <p:nvPr/>
        </p:nvSpPr>
        <p:spPr>
          <a:xfrm>
            <a:off x="3028950" y="53911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Speed 65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4314825" y="4448175"/>
            <a:ext cx="914400" cy="914400"/>
          </a:xfrm>
          <a:prstGeom prst="rect">
            <a:avLst/>
          </a:prstGeom>
        </p:spPr>
      </p:pic>
      <p:sp>
        <p:nvSpPr>
          <p:cNvPr id="26" name="mapillary-label-stop">
            <a:extLst>
              <a:ext uri="{FF2B5EF4-FFF2-40B4-BE49-F238E27FC236}">
                <a16:creationId xmlns:a16="http://schemas.microsoft.com/office/drawing/2014/main" id="{2C164AF5-BC37-444D-887F-D63FD68C43A4}"/>
              </a:ext>
            </a:extLst>
          </p:cNvPr>
          <p:cNvSpPr>
            <a:spLocks noGrp="1"/>
          </p:cNvSpPr>
          <p:nvPr/>
        </p:nvSpPr>
        <p:spPr>
          <a:xfrm>
            <a:off x="4229100" y="5391150"/>
            <a:ext cx="10858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algn="ctr">
              <a:defRPr sz="112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000000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27" name="section-preparation">
            <a:extLst>
              <a:ext uri="{FF2B5EF4-FFF2-40B4-BE49-F238E27FC236}">
                <a16:creationId xmlns:a16="http://schemas.microsoft.com/office/drawing/2014/main" id="{1CD39409-C4BE-47B8-8096-E91D03728C96}"/>
              </a:ext>
            </a:extLst>
          </p:cNvPr>
          <p:cNvSpPr>
            <a:spLocks noGrp="1"/>
          </p:cNvSpPr>
          <p:nvPr/>
        </p:nvSpPr>
        <p:spPr>
          <a:xfrm>
            <a:off x="5953125" y="1809750"/>
            <a:ext cx="5143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Preparation</a:t>
            </a:r>
          </a:p>
        </p:txBody>
      </p:sp>
      <p:sp>
        <p:nvSpPr>
          <p:cNvPr id="28" name="mapillary-summary">
            <a:extLst>
              <a:ext uri="{FF2B5EF4-FFF2-40B4-BE49-F238E27FC236}">
                <a16:creationId xmlns:a16="http://schemas.microsoft.com/office/drawing/2014/main" id="{4C892EF0-634D-4887-977B-2DA260F891B1}"/>
              </a:ext>
            </a:extLst>
          </p:cNvPr>
          <p:cNvSpPr>
            <a:spLocks noGrp="1"/>
          </p:cNvSpPr>
          <p:nvPr/>
        </p:nvSpPr>
        <p:spPr>
          <a:xfrm>
            <a:off x="6029325" y="2266950"/>
            <a:ext cx="53340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rmAutofit/>
          </a:bodyPr>
          <a:lstStyle/>
          <a:p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00000"/>
                </a:solidFill>
                <a:latin typeface="Aptos"/>
                <a:ea typeface="Aptos"/>
                <a:cs typeface="Aptos"/>
              </a:rPr>
              <a:t>Sourced Mapillary road-scene images for the same 12 U.S. sign classes.</a:t>
            </a:r>
          </a:p>
          <a:p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00000"/>
                </a:solidFill>
                <a:latin typeface="Aptos"/>
                <a:ea typeface="Aptos"/>
                <a:cs typeface="Aptos"/>
              </a:rPr>
              <a:t>Prepared 3,449 cropped signs: 2,655 train, 362 validation, and 432 test.</a:t>
            </a:r>
          </a:p>
          <a:p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000000"/>
                </a:solidFill>
                <a:latin typeface="Aptos"/>
                <a:ea typeface="Aptos"/>
                <a:cs typeface="Aptos"/>
              </a:rPr>
              <a:t>Next: train and evaluate the model, then consider combining Mapillary with LISA.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30AEBF44-7FD5-A705-80AC-D5F6B809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Alexis Perez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F837-7A7D-A6A3-574B-020760331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Goals for the week</a:t>
            </a:r>
          </a:p>
          <a:p>
            <a:pPr lvl="1"/>
            <a:r>
              <a:rPr lang="en-US" dirty="0"/>
              <a:t>Continue OpenCV Learning</a:t>
            </a:r>
          </a:p>
          <a:p>
            <a:pPr lvl="1"/>
            <a:r>
              <a:rPr lang="en-US" dirty="0"/>
              <a:t>Research Line Sensor Options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Selected and ordered  Line Sensors</a:t>
            </a:r>
          </a:p>
          <a:p>
            <a:pPr lvl="1"/>
            <a:r>
              <a:rPr lang="en-US" dirty="0"/>
              <a:t>Completed OpenCV Beginner course</a:t>
            </a:r>
          </a:p>
          <a:p>
            <a:r>
              <a:rPr lang="en-US" b="1" dirty="0"/>
              <a:t>Goals for next week</a:t>
            </a:r>
          </a:p>
          <a:p>
            <a:pPr lvl="1"/>
            <a:r>
              <a:rPr lang="en-US" dirty="0"/>
              <a:t>Integrate line sensors with </a:t>
            </a:r>
            <a:r>
              <a:rPr lang="en-US" dirty="0" err="1"/>
              <a:t>RaspberryPi</a:t>
            </a:r>
            <a:endParaRPr lang="en-US" dirty="0"/>
          </a:p>
          <a:p>
            <a:pPr lvl="1"/>
            <a:r>
              <a:rPr lang="en-US" dirty="0"/>
              <a:t>Implement OpenCV with </a:t>
            </a:r>
            <a:r>
              <a:rPr lang="en-US" dirty="0" err="1"/>
              <a:t>RaspberryPi</a:t>
            </a:r>
            <a:r>
              <a:rPr lang="en-US" dirty="0"/>
              <a:t> Camera</a:t>
            </a:r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A76FC7E-8FDD-2F27-67FA-E2218F39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Ethan Bishop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5DE5-5483-2694-9071-A7F6146E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299294"/>
          </a:xfrm>
        </p:spPr>
        <p:txBody>
          <a:bodyPr>
            <a:normAutofit lnSpcReduction="10000"/>
          </a:bodyPr>
          <a:lstStyle/>
          <a:p>
            <a:r>
              <a:rPr b="1" dirty="0"/>
              <a:t>Goals for the week</a:t>
            </a:r>
            <a:endParaRPr lang="en-US" dirty="0"/>
          </a:p>
          <a:p>
            <a:pPr lvl="1"/>
            <a:r>
              <a:rPr lang="en-US" dirty="0"/>
              <a:t>Research 3D printing </a:t>
            </a:r>
            <a:r>
              <a:rPr lang="en-US" dirty="0" err="1"/>
              <a:t>stl</a:t>
            </a:r>
            <a:r>
              <a:rPr lang="en-US" dirty="0"/>
              <a:t> files for the chassis</a:t>
            </a:r>
          </a:p>
          <a:p>
            <a:pPr lvl="1"/>
            <a:r>
              <a:rPr lang="en-US" dirty="0"/>
              <a:t>Research possible ROS implementation</a:t>
            </a:r>
          </a:p>
          <a:p>
            <a:r>
              <a:rPr b="1" dirty="0"/>
              <a:t>Progress for the week</a:t>
            </a:r>
          </a:p>
          <a:p>
            <a:pPr lvl="1"/>
            <a:r>
              <a:rPr lang="en-US" dirty="0"/>
              <a:t>Researched 3D printing </a:t>
            </a:r>
            <a:r>
              <a:rPr lang="en-US" dirty="0" err="1"/>
              <a:t>stl</a:t>
            </a:r>
            <a:r>
              <a:rPr lang="en-US" dirty="0"/>
              <a:t> files for the chassis</a:t>
            </a:r>
          </a:p>
          <a:p>
            <a:pPr lvl="1"/>
            <a:r>
              <a:rPr lang="en-US" dirty="0"/>
              <a:t>Continue research on a possible ROS 2 implementation</a:t>
            </a:r>
          </a:p>
          <a:p>
            <a:r>
              <a:rPr b="1" dirty="0"/>
              <a:t>Goals for next week</a:t>
            </a:r>
          </a:p>
          <a:p>
            <a:pPr lvl="1"/>
            <a:r>
              <a:rPr lang="en-US" dirty="0"/>
              <a:t>Continue research on a possible ROS 2 implementation</a:t>
            </a:r>
          </a:p>
          <a:p>
            <a:r>
              <a:rPr lang="en-US" b="1" dirty="0"/>
              <a:t>Hours spent on progress</a:t>
            </a:r>
          </a:p>
          <a:p>
            <a:pPr lvl="1"/>
            <a:r>
              <a:rPr lang="en-US" dirty="0"/>
              <a:t>6</a:t>
            </a:r>
            <a:r>
              <a:rPr dirty="0"/>
              <a:t>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8BF27-BBAE-92E8-1203-24CC4536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ROS 2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50EBB-D982-FD85-D489-3D6B4BBFF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dirty="0"/>
              <a:t>What I have learned so far is that it could be possible to make ROS 2 into our pipeline, but it will take more upfront work.</a:t>
            </a:r>
          </a:p>
          <a:p>
            <a:pPr marL="0" indent="0">
              <a:buNone/>
            </a:pPr>
            <a:r>
              <a:rPr lang="en-US" sz="2200" dirty="0"/>
              <a:t>The preliminary idea of a node structure</a:t>
            </a:r>
          </a:p>
          <a:p>
            <a:r>
              <a:rPr lang="en-US" sz="2200" dirty="0"/>
              <a:t>Camera node: Streams live 640×480 video to the rest of the system</a:t>
            </a:r>
          </a:p>
          <a:p>
            <a:r>
              <a:rPr lang="en-US" sz="2200" dirty="0"/>
              <a:t>Sign detector node: Runs our recognition model and reports each sign's type, confidence and position</a:t>
            </a:r>
          </a:p>
          <a:p>
            <a:r>
              <a:rPr lang="en-US" sz="2200" dirty="0"/>
              <a:t>Behavior node: A state machine that turns signs into driving decisions (stop, speed limit, turn)</a:t>
            </a:r>
          </a:p>
          <a:p>
            <a:r>
              <a:rPr lang="en-US" sz="2200" dirty="0"/>
              <a:t>Motor driver node: Converts speed and steering commands into motor signals on the HAT over I2C</a:t>
            </a:r>
          </a:p>
          <a:p>
            <a:pPr marL="0" indent="0">
              <a:buNone/>
            </a:pPr>
            <a:r>
              <a:rPr lang="en-US" sz="2200" dirty="0"/>
              <a:t>Safety: Motors stop automatically if commands stop arriving, and a manual override is available</a:t>
            </a:r>
          </a:p>
          <a:p>
            <a:pPr marL="0" indent="0">
              <a:buNone/>
            </a:pPr>
            <a:r>
              <a:rPr lang="en-US" sz="2200" dirty="0"/>
              <a:t>Why ROS 2: Modular nodes split the work across the team, and recorded drives can be replayed to test without the car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979CB03-77A3-48F2-A1C8-52F03FCB3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65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0277F-C2E1-025E-B6AB-EA1CA120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978408"/>
            <a:ext cx="3721608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Waffle bot plates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4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560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E7B79-4E78-B0C2-2F1C-78B1C7B893A1}"/>
              </a:ext>
            </a:extLst>
          </p:cNvPr>
          <p:cNvSpPr txBox="1"/>
          <p:nvPr/>
        </p:nvSpPr>
        <p:spPr>
          <a:xfrm>
            <a:off x="813816" y="2368296"/>
            <a:ext cx="3721608" cy="3502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I found some simplified Waffle plates on printables.com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One with no holes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One being a simple plate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Two being different doubles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2B260-71E4-61AF-270D-7F0B9A2AC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7124" r="20167" b="-2"/>
          <a:stretch>
            <a:fillRect/>
          </a:stretch>
        </p:blipFill>
        <p:spPr>
          <a:xfrm>
            <a:off x="5171031" y="10"/>
            <a:ext cx="3144714" cy="3209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AECCB-24C6-4B83-4AB9-593BDB264B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25" r="12036"/>
          <a:stretch>
            <a:fillRect/>
          </a:stretch>
        </p:blipFill>
        <p:spPr>
          <a:xfrm>
            <a:off x="5171033" y="3310128"/>
            <a:ext cx="3144712" cy="35478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244B0E-E9C2-D93F-4555-E1ADC15B53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005" r="8313" b="-3"/>
          <a:stretch>
            <a:fillRect/>
          </a:stretch>
        </p:blipFill>
        <p:spPr>
          <a:xfrm>
            <a:off x="8416348" y="10"/>
            <a:ext cx="3775651" cy="4133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8A1D29-825A-D98C-E441-F5CBF4A180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65" r="1003" b="5"/>
          <a:stretch>
            <a:fillRect/>
          </a:stretch>
        </p:blipFill>
        <p:spPr>
          <a:xfrm>
            <a:off x="8416348" y="4233672"/>
            <a:ext cx="3775652" cy="2624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D259182-6FD3-6E62-0AC1-D7F9A089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Abigail Duran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531B-14FC-040D-A94D-6293C4D3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29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b="1" dirty="0"/>
              <a:t>Goals for the week</a:t>
            </a:r>
            <a:endParaRPr lang="en-US" b="1" dirty="0"/>
          </a:p>
          <a:p>
            <a:pPr lvl="1"/>
            <a:r>
              <a:rPr lang="en-US" dirty="0"/>
              <a:t>Finalize the list of components and connections that will be included on the final PCB.</a:t>
            </a:r>
          </a:p>
          <a:p>
            <a:pPr lvl="1"/>
            <a:r>
              <a:rPr lang="en-US" dirty="0"/>
              <a:t>Identify what parts of the CM5 IO board are necessary for the project.</a:t>
            </a:r>
          </a:p>
          <a:p>
            <a:r>
              <a:rPr lang="en-US" b="1" dirty="0"/>
              <a:t>Progress for the week</a:t>
            </a:r>
          </a:p>
          <a:p>
            <a:pPr lvl="1"/>
            <a:r>
              <a:rPr lang="en-US" dirty="0"/>
              <a:t>Created an organized component checklist/spreadsheet for the PCB design. </a:t>
            </a:r>
          </a:p>
          <a:p>
            <a:pPr lvl="1"/>
            <a:r>
              <a:rPr lang="en-US" dirty="0"/>
              <a:t>Reviewed the CM5 IO Board components and connections to determine which features should be kept, removed, or modified.</a:t>
            </a:r>
          </a:p>
          <a:p>
            <a:pPr lvl="1"/>
            <a:r>
              <a:rPr lang="en-US" dirty="0"/>
              <a:t>Narrowed down the components needed for the final custom PCB.</a:t>
            </a:r>
          </a:p>
          <a:p>
            <a:r>
              <a:rPr lang="en-US" b="1" dirty="0"/>
              <a:t>Goals for next week</a:t>
            </a:r>
            <a:r>
              <a:rPr lang="en-US" dirty="0"/>
              <a:t>​​​</a:t>
            </a:r>
          </a:p>
          <a:p>
            <a:pPr lvl="1"/>
            <a:r>
              <a:rPr lang="en-US" dirty="0"/>
              <a:t>Begin planning the PCB layout, including component placement and board dimensions.​</a:t>
            </a:r>
          </a:p>
          <a:p>
            <a:pPr lvl="1"/>
            <a:r>
              <a:rPr lang="en-US" dirty="0"/>
              <a:t>Begin planning power distribution and signal routing.​</a:t>
            </a:r>
          </a:p>
          <a:p>
            <a:pPr lvl="1"/>
            <a:r>
              <a:rPr lang="en-US" dirty="0"/>
              <a:t>Start transferring the finalized component requirements into the PCB design.</a:t>
            </a:r>
            <a:endParaRPr dirty="0"/>
          </a:p>
          <a:p>
            <a:r>
              <a:rPr b="1" dirty="0"/>
              <a:t>Hours spent on progress</a:t>
            </a:r>
          </a:p>
          <a:p>
            <a:pPr lvl="1"/>
            <a:r>
              <a:rPr lang="en-US" dirty="0"/>
              <a:t>6 hours​</a:t>
            </a:r>
          </a:p>
          <a:p>
            <a:pPr lvl="1"/>
            <a:endParaRPr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847D18-1A87-FA4C-7DFB-55209922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56" y="452384"/>
            <a:ext cx="10642488" cy="595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286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Self Driving RC Car</vt:lpstr>
      <vt:lpstr>Ethan Wells</vt:lpstr>
      <vt:lpstr>Alexis Perez</vt:lpstr>
      <vt:lpstr>Ethan Bishop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Wells, Ethan Rhys</dc:creator>
  <cp:lastModifiedBy>Bishop, Ethan</cp:lastModifiedBy>
  <cp:revision>6</cp:revision>
  <dcterms:created xsi:type="dcterms:W3CDTF">2026-09-10T19:13:21Z</dcterms:created>
  <dcterms:modified xsi:type="dcterms:W3CDTF">2026-09-14T20:13:33Z</dcterms:modified>
</cp:coreProperties>
</file>