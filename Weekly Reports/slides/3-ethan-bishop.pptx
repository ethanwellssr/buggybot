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3" r:id="rId3"/>
    <p:sldId id="265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8"/>
  </p:normalViewPr>
  <p:slideViewPr>
    <p:cSldViewPr snapToGrid="0">
      <p:cViewPr varScale="1">
        <p:scale>
          <a:sx n="150" d="100"/>
          <a:sy n="150" d="100"/>
        </p:scale>
        <p:origin x="288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F74E5-A961-0960-D504-80FB9375C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6FC7E-8FDD-2F27-67FA-E2218F392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Bishop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F5DE5-5483-2694-9071-A7F6146E0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299294"/>
          </a:xfrm>
        </p:spPr>
        <p:txBody>
          <a:bodyPr>
            <a:normAutofit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lang="en-US" dirty="0"/>
              <a:t>Research on a possible ROS 2 implementation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Installed ROS 2 under WSL</a:t>
            </a:r>
          </a:p>
          <a:p>
            <a:pPr lvl="1"/>
            <a:r>
              <a:rPr lang="en-US" dirty="0"/>
              <a:t>Drafted the ROS 2 node architecture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Create a test </a:t>
            </a:r>
            <a:r>
              <a:rPr lang="en-US"/>
              <a:t>program for </a:t>
            </a:r>
            <a:r>
              <a:rPr lang="en-US" dirty="0"/>
              <a:t>ROS 2 implementation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</a:t>
            </a:r>
            <a:r>
              <a:rPr dirty="0"/>
              <a:t> hours.</a:t>
            </a:r>
          </a:p>
        </p:txBody>
      </p:sp>
    </p:spTree>
    <p:extLst>
      <p:ext uri="{BB962C8B-B14F-4D97-AF65-F5344CB8AC3E}">
        <p14:creationId xmlns:p14="http://schemas.microsoft.com/office/powerpoint/2010/main" val="2071750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68096" y="365760"/>
            <a:ext cx="10789920" cy="658368"/>
          </a:xfrm>
        </p:spPr>
        <p:txBody>
          <a:bodyPr lIns="0" tIns="0" rIns="0" bIns="0" anchor="b">
            <a:normAutofit/>
          </a:bodyPr>
          <a:lstStyle/>
          <a:p>
            <a:pPr algn="l"/>
            <a:r>
              <a:rPr lang="en-US" sz="3500" b="0" dirty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ROS 2 could split our pipeline into eight nodes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Preliminary node structure for the car; each node does one job</a:t>
            </a:r>
          </a:p>
        </p:txBody>
      </p:sp>
      <p:sp>
        <p:nvSpPr>
          <p:cNvPr id="4" name="Nodes"/>
          <p:cNvSpPr txBox="1"/>
          <p:nvPr/>
        </p:nvSpPr>
        <p:spPr>
          <a:xfrm>
            <a:off x="786384" y="1719072"/>
            <a:ext cx="63093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Nodes</a:t>
            </a:r>
          </a:p>
        </p:txBody>
      </p:sp>
      <p:sp>
        <p:nvSpPr>
          <p:cNvPr id="5" name="Node list"/>
          <p:cNvSpPr txBox="1"/>
          <p:nvPr/>
        </p:nvSpPr>
        <p:spPr>
          <a:xfrm>
            <a:off x="786384" y="2240280"/>
            <a:ext cx="6309360" cy="4023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spcBef>
                <a:spcPts val="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Camera: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streams video from the Pi Camera Module 3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Sign detector: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runs the vision model and reports each sign’s type, confidence and position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Line sensor: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tracks the lane lines with TCRT5000 IR sensors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IMU: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reports turning and motion; detects if the car is stuck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Behavior: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a state machine that turns signs, lane position and IMU data into driving decisions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Motor driver: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drives the wheels through the Waveshare HAT and stops if commands stop arriving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LCD: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shows the car’s state and the last sign detected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Teleop: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lets a person take over and drive manually</a:t>
            </a:r>
          </a:p>
        </p:txBody>
      </p:sp>
      <p:sp>
        <p:nvSpPr>
          <p:cNvPr id="6" name="Why ROS 2"/>
          <p:cNvSpPr txBox="1"/>
          <p:nvPr/>
        </p:nvSpPr>
        <p:spPr>
          <a:xfrm>
            <a:off x="7635240" y="1719072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Why ROS 2</a:t>
            </a:r>
          </a:p>
        </p:txBody>
      </p:sp>
      <p:sp>
        <p:nvSpPr>
          <p:cNvPr id="7" name="Why ROS 2 list"/>
          <p:cNvSpPr txBox="1"/>
          <p:nvPr/>
        </p:nvSpPr>
        <p:spPr>
          <a:xfrm>
            <a:off x="7635240" y="2240280"/>
            <a:ext cx="3794760" cy="2103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spcBef>
                <a:spcPts val="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Each teammate can own a node without touching the others</a:t>
            </a:r>
          </a:p>
          <a:p>
            <a:pPr marL="228600" indent="-228600" algn="l">
              <a:spcBef>
                <a:spcPts val="9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Recorded drives can be replayed to test without the car</a:t>
            </a:r>
          </a:p>
          <a:p>
            <a:pPr marL="228600" indent="-228600" algn="l">
              <a:spcBef>
                <a:spcPts val="9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Laptops can watch the camera feed and topics live</a:t>
            </a:r>
          </a:p>
        </p:txBody>
      </p:sp>
      <p:sp>
        <p:nvSpPr>
          <p:cNvPr id="8" name="Trade-off"/>
          <p:cNvSpPr txBox="1"/>
          <p:nvPr/>
        </p:nvSpPr>
        <p:spPr>
          <a:xfrm>
            <a:off x="7635240" y="4434840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Trade-off</a:t>
            </a:r>
          </a:p>
        </p:txBody>
      </p:sp>
      <p:sp>
        <p:nvSpPr>
          <p:cNvPr id="9" name="Trade-off text"/>
          <p:cNvSpPr txBox="1"/>
          <p:nvPr/>
        </p:nvSpPr>
        <p:spPr>
          <a:xfrm>
            <a:off x="7635240" y="4956048"/>
            <a:ext cx="37947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More upfront setup than a single script, including a custom Docker build for the CM5 camera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68096" y="365760"/>
            <a:ext cx="10789920" cy="658368"/>
          </a:xfrm>
        </p:spPr>
        <p:txBody>
          <a:bodyPr lIns="0" tIns="0" rIns="0" bIns="0" anchor="b">
            <a:normAutofit/>
          </a:bodyPr>
          <a:lstStyle/>
          <a:p>
            <a:pPr algn="l"/>
            <a:r>
              <a:rPr lang="en-US" sz="3500" b="0" dirty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The behavior node makes every driving decision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Draft ROS 2 data flow: boxes are nodes, arrows are topics</a:t>
            </a:r>
          </a:p>
        </p:txBody>
      </p:sp>
      <p:sp>
        <p:nvSpPr>
          <p:cNvPr id="4" name="Line sensor"/>
          <p:cNvSpPr/>
          <p:nvPr/>
        </p:nvSpPr>
        <p:spPr>
          <a:xfrm>
            <a:off x="6766560" y="169164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Line sensor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TCRT5000 IR sensors</a:t>
            </a:r>
          </a:p>
        </p:txBody>
      </p:sp>
      <p:cxnSp>
        <p:nvCxnSpPr>
          <p:cNvPr id="5" name="Arrow /lane"/>
          <p:cNvCxnSpPr/>
          <p:nvPr/>
        </p:nvCxnSpPr>
        <p:spPr>
          <a:xfrm>
            <a:off x="7726680" y="2578608"/>
            <a:ext cx="0" cy="530352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6" name="Topic /lane"/>
          <p:cNvSpPr txBox="1"/>
          <p:nvPr/>
        </p:nvSpPr>
        <p:spPr>
          <a:xfrm>
            <a:off x="7836408" y="270662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/lane</a:t>
            </a:r>
          </a:p>
        </p:txBody>
      </p:sp>
      <p:sp>
        <p:nvSpPr>
          <p:cNvPr id="7" name="Camera"/>
          <p:cNvSpPr/>
          <p:nvPr/>
        </p:nvSpPr>
        <p:spPr>
          <a:xfrm>
            <a:off x="786384" y="315468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Camera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Pi Camera Module 3</a:t>
            </a:r>
          </a:p>
        </p:txBody>
      </p:sp>
      <p:sp>
        <p:nvSpPr>
          <p:cNvPr id="8" name="Sign detector"/>
          <p:cNvSpPr/>
          <p:nvPr/>
        </p:nvSpPr>
        <p:spPr>
          <a:xfrm>
            <a:off x="3776472" y="315468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Sign detector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Vision model</a:t>
            </a:r>
          </a:p>
        </p:txBody>
      </p:sp>
      <p:sp>
        <p:nvSpPr>
          <p:cNvPr id="9" name="Behavior"/>
          <p:cNvSpPr/>
          <p:nvPr/>
        </p:nvSpPr>
        <p:spPr>
          <a:xfrm>
            <a:off x="6766560" y="315468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30669D"/>
          </a:solidFill>
          <a:ln w="12700">
            <a:solidFill>
              <a:srgbClr val="30669D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Behavior</a:t>
            </a:r>
          </a:p>
          <a:p>
            <a:pPr algn="ctr"/>
            <a:r>
              <a:rPr lang="en-US" sz="1200" b="0" dirty="0">
                <a:solidFill>
                  <a:srgbClr val="DCE6F1"/>
                </a:solidFill>
                <a:latin typeface="Aptos"/>
                <a:ea typeface="Aptos"/>
                <a:cs typeface="Aptos"/>
              </a:rPr>
              <a:t>State machine</a:t>
            </a:r>
          </a:p>
        </p:txBody>
      </p:sp>
      <p:sp>
        <p:nvSpPr>
          <p:cNvPr id="10" name="Motor driver"/>
          <p:cNvSpPr/>
          <p:nvPr/>
        </p:nvSpPr>
        <p:spPr>
          <a:xfrm>
            <a:off x="9756648" y="315468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Motor driver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Waveshare HAT (I2C)</a:t>
            </a:r>
          </a:p>
        </p:txBody>
      </p:sp>
      <p:cxnSp>
        <p:nvCxnSpPr>
          <p:cNvPr id="11" name="Arrow /image_raw"/>
          <p:cNvCxnSpPr/>
          <p:nvPr/>
        </p:nvCxnSpPr>
        <p:spPr>
          <a:xfrm>
            <a:off x="2752344" y="3575304"/>
            <a:ext cx="978408" cy="0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12" name="Topic /image_raw"/>
          <p:cNvSpPr txBox="1"/>
          <p:nvPr/>
        </p:nvSpPr>
        <p:spPr>
          <a:xfrm>
            <a:off x="2752344" y="3191256"/>
            <a:ext cx="97840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/image_raw</a:t>
            </a:r>
          </a:p>
        </p:txBody>
      </p:sp>
      <p:cxnSp>
        <p:nvCxnSpPr>
          <p:cNvPr id="13" name="Arrow /signs"/>
          <p:cNvCxnSpPr/>
          <p:nvPr/>
        </p:nvCxnSpPr>
        <p:spPr>
          <a:xfrm>
            <a:off x="5742432" y="3575304"/>
            <a:ext cx="978408" cy="0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14" name="Topic /signs"/>
          <p:cNvSpPr txBox="1"/>
          <p:nvPr/>
        </p:nvSpPr>
        <p:spPr>
          <a:xfrm>
            <a:off x="5742432" y="3191256"/>
            <a:ext cx="97840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/signs</a:t>
            </a:r>
          </a:p>
        </p:txBody>
      </p:sp>
      <p:cxnSp>
        <p:nvCxnSpPr>
          <p:cNvPr id="15" name="Arrow /cmd_vel"/>
          <p:cNvCxnSpPr/>
          <p:nvPr/>
        </p:nvCxnSpPr>
        <p:spPr>
          <a:xfrm>
            <a:off x="8732520" y="3575304"/>
            <a:ext cx="978408" cy="0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16" name="Topic /cmd_vel"/>
          <p:cNvSpPr txBox="1"/>
          <p:nvPr/>
        </p:nvSpPr>
        <p:spPr>
          <a:xfrm>
            <a:off x="8732520" y="3191256"/>
            <a:ext cx="97840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/cmd_vel</a:t>
            </a:r>
          </a:p>
        </p:txBody>
      </p:sp>
      <p:sp>
        <p:nvSpPr>
          <p:cNvPr id="17" name="IMU"/>
          <p:cNvSpPr/>
          <p:nvPr/>
        </p:nvSpPr>
        <p:spPr>
          <a:xfrm>
            <a:off x="3776472" y="512064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IMU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IMU (I2C)</a:t>
            </a:r>
          </a:p>
        </p:txBody>
      </p:sp>
      <p:sp>
        <p:nvSpPr>
          <p:cNvPr id="18" name="LCD"/>
          <p:cNvSpPr/>
          <p:nvPr/>
        </p:nvSpPr>
        <p:spPr>
          <a:xfrm>
            <a:off x="6766560" y="512064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LCD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LCD display (I2C)</a:t>
            </a:r>
          </a:p>
        </p:txBody>
      </p:sp>
      <p:sp>
        <p:nvSpPr>
          <p:cNvPr id="19" name="Teleop"/>
          <p:cNvSpPr/>
          <p:nvPr/>
        </p:nvSpPr>
        <p:spPr>
          <a:xfrm>
            <a:off x="9756648" y="5120640"/>
            <a:ext cx="1920240" cy="841248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 w="12700">
            <a:solidFill>
              <a:srgbClr val="C9D1DA"/>
            </a:solidFill>
          </a:ln>
        </p:spPr>
        <p:txBody>
          <a:bodyPr wrap="square" lIns="45720" tIns="45720" rIns="45720" bIns="4572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2313F"/>
                </a:solidFill>
                <a:latin typeface="Aptos"/>
                <a:ea typeface="Aptos"/>
                <a:cs typeface="Aptos"/>
              </a:rPr>
              <a:t>Teleop</a:t>
            </a:r>
          </a:p>
          <a:p>
            <a:pPr algn="ctr"/>
            <a:r>
              <a:rPr lang="en-US" sz="1200" b="0" dirty="0">
                <a:solidFill>
                  <a:srgbClr val="5B6773"/>
                </a:solidFill>
                <a:latin typeface="Aptos"/>
                <a:ea typeface="Aptos"/>
                <a:cs typeface="Aptos"/>
              </a:rPr>
              <a:t>Laptop keyboard</a:t>
            </a:r>
          </a:p>
        </p:txBody>
      </p:sp>
      <p:cxnSp>
        <p:nvCxnSpPr>
          <p:cNvPr id="20" name="Arrow /imu"/>
          <p:cNvCxnSpPr/>
          <p:nvPr/>
        </p:nvCxnSpPr>
        <p:spPr>
          <a:xfrm flipV="1">
            <a:off x="5468112" y="4041648"/>
            <a:ext cx="1618488" cy="1033272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21" name="Topic /imu"/>
          <p:cNvSpPr txBox="1"/>
          <p:nvPr/>
        </p:nvSpPr>
        <p:spPr>
          <a:xfrm>
            <a:off x="6551676" y="451256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/imu</a:t>
            </a:r>
          </a:p>
        </p:txBody>
      </p:sp>
      <p:cxnSp>
        <p:nvCxnSpPr>
          <p:cNvPr id="22" name="Arrow /status"/>
          <p:cNvCxnSpPr/>
          <p:nvPr/>
        </p:nvCxnSpPr>
        <p:spPr>
          <a:xfrm>
            <a:off x="7955280" y="4041648"/>
            <a:ext cx="0" cy="1033272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23" name="Topic /status"/>
          <p:cNvSpPr txBox="1"/>
          <p:nvPr/>
        </p:nvSpPr>
        <p:spPr>
          <a:xfrm>
            <a:off x="8065008" y="442112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/status</a:t>
            </a:r>
          </a:p>
        </p:txBody>
      </p:sp>
      <p:cxnSp>
        <p:nvCxnSpPr>
          <p:cNvPr id="24" name="Arrow teleop"/>
          <p:cNvCxnSpPr/>
          <p:nvPr/>
        </p:nvCxnSpPr>
        <p:spPr>
          <a:xfrm flipV="1">
            <a:off x="10716768" y="4041648"/>
            <a:ext cx="0" cy="1033272"/>
          </a:xfrm>
          <a:prstGeom prst="straightConnector1">
            <a:avLst/>
          </a:prstGeom>
          <a:ln w="19050">
            <a:solidFill>
              <a:srgbClr val="5B6773"/>
            </a:solidFill>
            <a:tailEnd type="triangle" w="med" len="med"/>
          </a:ln>
        </p:spPr>
      </p:cxnSp>
      <p:sp>
        <p:nvSpPr>
          <p:cNvPr id="25" name="Topic /cmd_vel"/>
          <p:cNvSpPr txBox="1"/>
          <p:nvPr/>
        </p:nvSpPr>
        <p:spPr>
          <a:xfrm>
            <a:off x="10826496" y="426567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/cmd_vel</a:t>
            </a:r>
          </a:p>
        </p:txBody>
      </p:sp>
      <p:sp>
        <p:nvSpPr>
          <p:cNvPr id="26" name="Topic (manual)"/>
          <p:cNvSpPr txBox="1"/>
          <p:nvPr/>
        </p:nvSpPr>
        <p:spPr>
          <a:xfrm>
            <a:off x="10826496" y="45765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0" dirty="0">
                <a:solidFill>
                  <a:srgbClr val="5B6773"/>
                </a:solidFill>
                <a:latin typeface="Courier New"/>
                <a:cs typeface="Courier New"/>
              </a:rPr>
              <a:t>(manual)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304</Words>
  <Application>Microsoft Office PowerPoint</Application>
  <PresentationFormat>Widescreen</PresentationFormat>
  <Paragraphs>53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Courier New</vt:lpstr>
      <vt:lpstr>Office Theme</vt:lpstr>
      <vt:lpstr>Ethan Bishop</vt:lpstr>
      <vt:lpstr>ROS 2 could split our pipeline into eight nodes</vt:lpstr>
      <vt:lpstr>The behavior node makes every driving decision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11</cp:revision>
  <dcterms:created xsi:type="dcterms:W3CDTF">2026-09-10T19:13:21Z</dcterms:created>
  <dcterms:modified xsi:type="dcterms:W3CDTF">2026-10-20T04:47:39Z</dcterms:modified>
</cp:coreProperties>
</file>