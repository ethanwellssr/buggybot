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4"/>
  </p:normalViewPr>
  <p:slideViewPr>
    <p:cSldViewPr snapToGrid="0">
      <p:cViewPr varScale="1">
        <p:scale>
          <a:sx n="112" d="100"/>
          <a:sy n="112" d="100"/>
        </p:scale>
        <p:origin x="6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Test recall</c:v>
          </c:tx>
          <c:spPr>
            <a:solidFill>
              <a:srgbClr val="4A4A4A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75">
                    <a:solidFill>
                      <a:srgbClr val="111111"/>
                    </a:solidFill>
                    <a:latin typeface="Aptos"/>
                    <a:ea typeface="Aptos"/>
                    <a:cs typeface="Apto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Data'!$A$2:$A$13</c:f>
              <c:strCache>
                <c:ptCount val="12"/>
                <c:pt idx="0">
                  <c:v>Added Lane</c:v>
                </c:pt>
                <c:pt idx="1">
                  <c:v>Keep Right</c:v>
                </c:pt>
                <c:pt idx="2">
                  <c:v>Merge</c:v>
                </c:pt>
                <c:pt idx="3">
                  <c:v>Pedestrian</c:v>
                </c:pt>
                <c:pt idx="4">
                  <c:v>School</c:v>
                </c:pt>
                <c:pt idx="5">
                  <c:v>Signal Ahead</c:v>
                </c:pt>
                <c:pt idx="6">
                  <c:v>Speed 25</c:v>
                </c:pt>
                <c:pt idx="7">
                  <c:v>Speed 30</c:v>
                </c:pt>
                <c:pt idx="8">
                  <c:v>Speed 35</c:v>
                </c:pt>
                <c:pt idx="9">
                  <c:v>Speed 45</c:v>
                </c:pt>
                <c:pt idx="10">
                  <c:v>Speed 65</c:v>
                </c:pt>
                <c:pt idx="11">
                  <c:v>Stop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100</c:v>
                </c:pt>
                <c:pt idx="1">
                  <c:v>100</c:v>
                </c:pt>
                <c:pt idx="2">
                  <c:v>52.6</c:v>
                </c:pt>
                <c:pt idx="3">
                  <c:v>78.900000000000006</c:v>
                </c:pt>
                <c:pt idx="4">
                  <c:v>63.6</c:v>
                </c:pt>
                <c:pt idx="5">
                  <c:v>93.4</c:v>
                </c:pt>
                <c:pt idx="6">
                  <c:v>100</c:v>
                </c:pt>
                <c:pt idx="7">
                  <c:v>71.400000000000006</c:v>
                </c:pt>
                <c:pt idx="8">
                  <c:v>76.5</c:v>
                </c:pt>
                <c:pt idx="9">
                  <c:v>84</c:v>
                </c:pt>
                <c:pt idx="10">
                  <c:v>100</c:v>
                </c:pt>
                <c:pt idx="11">
                  <c:v>98.6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77E3-2A46-AB46-E43CA9D2C35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DDDDDD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777777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777777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noFill/>
        <a:ln w="0">
          <a:noFill/>
        </a:ln>
      </c:spPr>
    </c:plotArea>
    <c:plotVisOnly val="1"/>
    <c:dispBlanksAs val="zero"/>
    <c:showDLblsOverMax val="1"/>
  </c:chart>
  <c:spPr>
    <a:noFill/>
    <a:ln w="0"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Model Training/lisa_training_report.json; Model Training/README.md; Model Training/MAPILLARY_PREPARATION.md. Week 7 progress stops at Mapillary sourcing and data preparation.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Model Training/lisa_training_report.json. The chart shows test recall from 584 held-out crops. The three examples are errors from the held-out test split: Merge predicted as Added Lane, School predicted as Pedestrian Crossing, and Speed Limit 30 predicted as Speed Limit 35. The scores do not test live camera capture or sign detection.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Model Training/MAPILLARY_PREPARATION.md; Model Training/README.md. Gallery images are prepared Mapillary training crops, one example per class. The test set had not yet been used for a Mapillary model in the Week 7 reporting period.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-title">
            <a:extLst>
              <a:ext uri="{FF2B5EF4-FFF2-40B4-BE49-F238E27FC236}">
                <a16:creationId xmlns:a16="http://schemas.microsoft.com/office/drawing/2014/main" id="{B2B79A4A-5F48-4F8C-95D6-B925E3164B2D}"/>
              </a:ext>
            </a:extLst>
          </p:cNvPr>
          <p:cNvSpPr>
            <a:spLocks noGrp="1"/>
          </p:cNvSpPr>
          <p:nvPr/>
        </p:nvSpPr>
        <p:spPr>
          <a:xfrm>
            <a:off x="914400" y="590550"/>
            <a:ext cx="106680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defRPr sz="420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Ethan Wells</a:t>
            </a:r>
          </a:p>
        </p:txBody>
      </p:sp>
      <p:sp>
        <p:nvSpPr>
          <p:cNvPr id="2" name="section-goals-for-the-week">
            <a:extLst>
              <a:ext uri="{FF2B5EF4-FFF2-40B4-BE49-F238E27FC236}">
                <a16:creationId xmlns:a16="http://schemas.microsoft.com/office/drawing/2014/main" id="{D695EA51-DF94-4706-B740-AAEF12FBA793}"/>
              </a:ext>
            </a:extLst>
          </p:cNvPr>
          <p:cNvSpPr>
            <a:spLocks noGrp="1"/>
          </p:cNvSpPr>
          <p:nvPr/>
        </p:nvSpPr>
        <p:spPr>
          <a:xfrm>
            <a:off x="762000" y="1524000"/>
            <a:ext cx="10287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defRPr sz="18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Goals for the week</a:t>
            </a:r>
          </a:p>
        </p:txBody>
      </p:sp>
      <p:sp>
        <p:nvSpPr>
          <p:cNvPr id="3" name="week7-goals">
            <a:extLst>
              <a:ext uri="{FF2B5EF4-FFF2-40B4-BE49-F238E27FC236}">
                <a16:creationId xmlns:a16="http://schemas.microsoft.com/office/drawing/2014/main" id="{F34356FF-7AEF-48B2-891A-1E3B171587D6}"/>
              </a:ext>
            </a:extLst>
          </p:cNvPr>
          <p:cNvSpPr>
            <a:spLocks noGrp="1"/>
          </p:cNvSpPr>
          <p:nvPr/>
        </p:nvSpPr>
        <p:spPr>
          <a:xfrm>
            <a:off x="838200" y="1885950"/>
            <a:ext cx="10477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 marL="228600" indent="-114300">
              <a:spcAft>
                <a:spcPts val="700"/>
              </a:spcAft>
              <a:buChar char="•"/>
              <a:defRPr sz="150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000000"/>
                </a:solidFill>
                <a:latin typeface="Aptos"/>
                <a:ea typeface="Aptos"/>
                <a:cs typeface="Aptos"/>
              </a:rPr>
              <a:t>Train and test a CNN on the prepared LISA sign dataset.</a:t>
            </a:r>
          </a:p>
        </p:txBody>
      </p:sp>
      <p:sp>
        <p:nvSpPr>
          <p:cNvPr id="4" name="section-progress-for-the-week">
            <a:extLst>
              <a:ext uri="{FF2B5EF4-FFF2-40B4-BE49-F238E27FC236}">
                <a16:creationId xmlns:a16="http://schemas.microsoft.com/office/drawing/2014/main" id="{A60F2C09-C968-42DD-92C0-6839F067AA8F}"/>
              </a:ext>
            </a:extLst>
          </p:cNvPr>
          <p:cNvSpPr>
            <a:spLocks noGrp="1"/>
          </p:cNvSpPr>
          <p:nvPr/>
        </p:nvSpPr>
        <p:spPr>
          <a:xfrm>
            <a:off x="762000" y="2438400"/>
            <a:ext cx="10287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defRPr sz="18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Progress for the week</a:t>
            </a:r>
          </a:p>
        </p:txBody>
      </p:sp>
      <p:sp>
        <p:nvSpPr>
          <p:cNvPr id="5" name="week7-progress">
            <a:extLst>
              <a:ext uri="{FF2B5EF4-FFF2-40B4-BE49-F238E27FC236}">
                <a16:creationId xmlns:a16="http://schemas.microsoft.com/office/drawing/2014/main" id="{1266AE4D-44FD-4BAC-B49F-E3B95A24F6F9}"/>
              </a:ext>
            </a:extLst>
          </p:cNvPr>
          <p:cNvSpPr>
            <a:spLocks noGrp="1"/>
          </p:cNvSpPr>
          <p:nvPr/>
        </p:nvSpPr>
        <p:spPr>
          <a:xfrm>
            <a:off x="838200" y="2819400"/>
            <a:ext cx="10477500" cy="1695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 marL="228600" indent="-114300">
              <a:spcAft>
                <a:spcPts val="700"/>
              </a:spcAft>
              <a:buChar char="•"/>
              <a:defRPr sz="150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000000"/>
                </a:solidFill>
                <a:latin typeface="Aptos"/>
                <a:ea typeface="Aptos"/>
                <a:cs typeface="Aptos"/>
              </a:rPr>
              <a:t>Trained and tested the LISA model: 89.90% top-1 (525 of 584 test crops) and 84.93% macro class accuracy.</a:t>
            </a:r>
          </a:p>
          <a:p>
            <a:pPr marL="228600" indent="-114300">
              <a:spcAft>
                <a:spcPts val="700"/>
              </a:spcAft>
              <a:buChar char="•"/>
              <a:defRPr sz="150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000000"/>
                </a:solidFill>
                <a:latin typeface="Aptos"/>
                <a:ea typeface="Aptos"/>
                <a:cs typeface="Aptos"/>
              </a:rPr>
              <a:t>Reviewed per-class results and found limited, uneven training data, including few independent sign tracks for several classes.</a:t>
            </a:r>
          </a:p>
          <a:p>
            <a:pPr marL="228600" indent="-114300">
              <a:spcAft>
                <a:spcPts val="700"/>
              </a:spcAft>
              <a:buChar char="•"/>
              <a:defRPr sz="150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000000"/>
                </a:solidFill>
                <a:latin typeface="Aptos"/>
                <a:ea typeface="Aptos"/>
                <a:cs typeface="Aptos"/>
              </a:rPr>
              <a:t>Sourced Mapillary data and prepared 3,449 crops for the same 12 classes: 2,655 train, 362 validation, and 432 test.</a:t>
            </a:r>
          </a:p>
        </p:txBody>
      </p:sp>
      <p:sp>
        <p:nvSpPr>
          <p:cNvPr id="6" name="section-goals-for-next-week">
            <a:extLst>
              <a:ext uri="{FF2B5EF4-FFF2-40B4-BE49-F238E27FC236}">
                <a16:creationId xmlns:a16="http://schemas.microsoft.com/office/drawing/2014/main" id="{D868C7A5-2C2A-4AB8-A115-2B857D2BCB8D}"/>
              </a:ext>
            </a:extLst>
          </p:cNvPr>
          <p:cNvSpPr>
            <a:spLocks noGrp="1"/>
          </p:cNvSpPr>
          <p:nvPr/>
        </p:nvSpPr>
        <p:spPr>
          <a:xfrm>
            <a:off x="762000" y="3919537"/>
            <a:ext cx="10287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defRPr sz="18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800" b="1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Goals for next week</a:t>
            </a:r>
          </a:p>
        </p:txBody>
      </p:sp>
      <p:sp>
        <p:nvSpPr>
          <p:cNvPr id="7" name="week7-next-goals">
            <a:extLst>
              <a:ext uri="{FF2B5EF4-FFF2-40B4-BE49-F238E27FC236}">
                <a16:creationId xmlns:a16="http://schemas.microsoft.com/office/drawing/2014/main" id="{9995E687-CADA-4F6C-9CD4-273839F63FC8}"/>
              </a:ext>
            </a:extLst>
          </p:cNvPr>
          <p:cNvSpPr>
            <a:spLocks noGrp="1"/>
          </p:cNvSpPr>
          <p:nvPr/>
        </p:nvSpPr>
        <p:spPr>
          <a:xfrm>
            <a:off x="838200" y="4360069"/>
            <a:ext cx="104775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 marL="228600" indent="-114300">
              <a:spcAft>
                <a:spcPts val="700"/>
              </a:spcAft>
              <a:buChar char="•"/>
              <a:defRPr sz="1425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425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Train and test a model on the prepared </a:t>
            </a:r>
            <a:r>
              <a:rPr sz="1425" dirty="0" err="1">
                <a:solidFill>
                  <a:srgbClr val="000000"/>
                </a:solidFill>
                <a:latin typeface="Aptos"/>
                <a:ea typeface="Aptos"/>
                <a:cs typeface="Aptos"/>
              </a:rPr>
              <a:t>Mapillary</a:t>
            </a:r>
            <a:r>
              <a:rPr sz="1425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 data.</a:t>
            </a:r>
          </a:p>
          <a:p>
            <a:pPr marL="228600" indent="-114300">
              <a:spcAft>
                <a:spcPts val="700"/>
              </a:spcAft>
              <a:buChar char="•"/>
              <a:defRPr sz="1425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425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If time allows, combine the LISA and </a:t>
            </a:r>
            <a:r>
              <a:rPr sz="1425" dirty="0" err="1">
                <a:solidFill>
                  <a:srgbClr val="000000"/>
                </a:solidFill>
                <a:latin typeface="Aptos"/>
                <a:ea typeface="Aptos"/>
                <a:cs typeface="Aptos"/>
              </a:rPr>
              <a:t>Mapillary</a:t>
            </a:r>
            <a:r>
              <a:rPr sz="1425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 datasets, then train and test the combined model.</a:t>
            </a:r>
          </a:p>
        </p:txBody>
      </p:sp>
      <p:sp>
        <p:nvSpPr>
          <p:cNvPr id="8" name="hours">
            <a:extLst>
              <a:ext uri="{FF2B5EF4-FFF2-40B4-BE49-F238E27FC236}">
                <a16:creationId xmlns:a16="http://schemas.microsoft.com/office/drawing/2014/main" id="{CF43D2E0-B715-4D97-84BA-CF4F5F33C417}"/>
              </a:ext>
            </a:extLst>
          </p:cNvPr>
          <p:cNvSpPr>
            <a:spLocks noGrp="1"/>
          </p:cNvSpPr>
          <p:nvPr/>
        </p:nvSpPr>
        <p:spPr>
          <a:xfrm>
            <a:off x="762000" y="5064919"/>
            <a:ext cx="6667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defRPr sz="1575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575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Hours spent on progress: 7 hours</a:t>
            </a:r>
          </a:p>
        </p:txBody>
      </p:sp>
    </p:spTree>
    <p:extLst>
      <p:ext uri="{BB962C8B-B14F-4D97-AF65-F5344CB8AC3E}">
        <p14:creationId xmlns:p14="http://schemas.microsoft.com/office/powerpoint/2010/main" val="268804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E20E7FBC-A104-459D-8712-E3C3F70ABA5D}"/>
              </a:ext>
            </a:extLst>
          </p:cNvPr>
          <p:cNvSpPr>
            <a:spLocks noGrp="1"/>
          </p:cNvSpPr>
          <p:nvPr/>
        </p:nvSpPr>
        <p:spPr>
          <a:xfrm>
            <a:off x="914400" y="590550"/>
            <a:ext cx="106680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defRPr sz="420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LISA Model Results</a:t>
            </a:r>
          </a:p>
        </p:txBody>
      </p:sp>
      <p:sp>
        <p:nvSpPr>
          <p:cNvPr id="2" name="chart-caption">
            <a:extLst>
              <a:ext uri="{FF2B5EF4-FFF2-40B4-BE49-F238E27FC236}">
                <a16:creationId xmlns:a16="http://schemas.microsoft.com/office/drawing/2014/main" id="{0B0290F6-0F6B-4067-8388-43F8C6332CE7}"/>
              </a:ext>
            </a:extLst>
          </p:cNvPr>
          <p:cNvSpPr>
            <a:spLocks noGrp="1"/>
          </p:cNvSpPr>
          <p:nvPr/>
        </p:nvSpPr>
        <p:spPr>
          <a:xfrm>
            <a:off x="704850" y="1438275"/>
            <a:ext cx="6667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Test recall by class (%)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="514350" y="1790700"/>
          <a:ext cx="7696200" cy="4143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misclassified-header">
            <a:extLst>
              <a:ext uri="{FF2B5EF4-FFF2-40B4-BE49-F238E27FC236}">
                <a16:creationId xmlns:a16="http://schemas.microsoft.com/office/drawing/2014/main" id="{59CD83B1-128B-4EA9-A1E9-FF4379B79456}"/>
              </a:ext>
            </a:extLst>
          </p:cNvPr>
          <p:cNvSpPr>
            <a:spLocks noGrp="1"/>
          </p:cNvSpPr>
          <p:nvPr/>
        </p:nvSpPr>
        <p:spPr>
          <a:xfrm>
            <a:off x="8515350" y="1485900"/>
            <a:ext cx="3143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defRPr sz="15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Misclassified test crops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548688" y="2000250"/>
            <a:ext cx="1000125" cy="1000125"/>
          </a:xfrm>
          <a:prstGeom prst="rect">
            <a:avLst/>
          </a:prstGeom>
        </p:spPr>
      </p:pic>
      <p:sp>
        <p:nvSpPr>
          <p:cNvPr id="6" name="error-caption-1">
            <a:extLst>
              <a:ext uri="{FF2B5EF4-FFF2-40B4-BE49-F238E27FC236}">
                <a16:creationId xmlns:a16="http://schemas.microsoft.com/office/drawing/2014/main" id="{57B1AAED-DFE6-4AF3-9636-A3A7DA69E226}"/>
              </a:ext>
            </a:extLst>
          </p:cNvPr>
          <p:cNvSpPr>
            <a:spLocks noGrp="1"/>
          </p:cNvSpPr>
          <p:nvPr/>
        </p:nvSpPr>
        <p:spPr>
          <a:xfrm>
            <a:off x="9715500" y="2076450"/>
            <a:ext cx="19526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defRPr sz="135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000000"/>
                </a:solidFill>
                <a:latin typeface="Aptos"/>
                <a:ea typeface="Aptos"/>
                <a:cs typeface="Aptos"/>
              </a:rPr>
              <a:t>True: Merge</a:t>
            </a:r>
          </a:p>
          <a:p>
            <a:pPr>
              <a:defRPr sz="135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000000"/>
                </a:solidFill>
                <a:latin typeface="Aptos"/>
                <a:ea typeface="Aptos"/>
                <a:cs typeface="Aptos"/>
              </a:rPr>
              <a:t>Predicted: Added Lane</a:t>
            </a:r>
          </a:p>
          <a:p>
            <a:pPr>
              <a:defRPr sz="135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000000"/>
                </a:solidFill>
                <a:latin typeface="Aptos"/>
                <a:ea typeface="Aptos"/>
                <a:cs typeface="Aptos"/>
              </a:rPr>
              <a:t>Recall: 52.6% (10/19)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548688" y="3371850"/>
            <a:ext cx="1000125" cy="1000125"/>
          </a:xfrm>
          <a:prstGeom prst="rect">
            <a:avLst/>
          </a:prstGeom>
        </p:spPr>
      </p:pic>
      <p:sp>
        <p:nvSpPr>
          <p:cNvPr id="8" name="error-caption-2">
            <a:extLst>
              <a:ext uri="{FF2B5EF4-FFF2-40B4-BE49-F238E27FC236}">
                <a16:creationId xmlns:a16="http://schemas.microsoft.com/office/drawing/2014/main" id="{7EC912E9-52EA-4CA6-AB05-7E6E8916C6F7}"/>
              </a:ext>
            </a:extLst>
          </p:cNvPr>
          <p:cNvSpPr>
            <a:spLocks noGrp="1"/>
          </p:cNvSpPr>
          <p:nvPr/>
        </p:nvSpPr>
        <p:spPr>
          <a:xfrm>
            <a:off x="9715500" y="3448050"/>
            <a:ext cx="19526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defRPr sz="135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000000"/>
                </a:solidFill>
                <a:latin typeface="Aptos"/>
                <a:ea typeface="Aptos"/>
                <a:cs typeface="Aptos"/>
              </a:rPr>
              <a:t>True: School</a:t>
            </a:r>
          </a:p>
          <a:p>
            <a:pPr>
              <a:defRPr sz="135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000000"/>
                </a:solidFill>
                <a:latin typeface="Aptos"/>
                <a:ea typeface="Aptos"/>
                <a:cs typeface="Aptos"/>
              </a:rPr>
              <a:t>Predicted: Pedestrian Crossing</a:t>
            </a:r>
          </a:p>
          <a:p>
            <a:pPr>
              <a:defRPr sz="135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000000"/>
                </a:solidFill>
                <a:latin typeface="Aptos"/>
                <a:ea typeface="Aptos"/>
                <a:cs typeface="Aptos"/>
              </a:rPr>
              <a:t>Recall: 63.6% (7/11)</a:t>
            </a:r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548688" y="4743450"/>
            <a:ext cx="1000125" cy="1000125"/>
          </a:xfrm>
          <a:prstGeom prst="rect">
            <a:avLst/>
          </a:prstGeom>
        </p:spPr>
      </p:pic>
      <p:sp>
        <p:nvSpPr>
          <p:cNvPr id="10" name="error-caption-3">
            <a:extLst>
              <a:ext uri="{FF2B5EF4-FFF2-40B4-BE49-F238E27FC236}">
                <a16:creationId xmlns:a16="http://schemas.microsoft.com/office/drawing/2014/main" id="{126093DC-4B25-463C-8069-2FF62759B879}"/>
              </a:ext>
            </a:extLst>
          </p:cNvPr>
          <p:cNvSpPr>
            <a:spLocks noGrp="1"/>
          </p:cNvSpPr>
          <p:nvPr/>
        </p:nvSpPr>
        <p:spPr>
          <a:xfrm>
            <a:off x="9715500" y="4819650"/>
            <a:ext cx="19526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defRPr sz="135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000000"/>
                </a:solidFill>
                <a:latin typeface="Aptos"/>
                <a:ea typeface="Aptos"/>
                <a:cs typeface="Aptos"/>
              </a:rPr>
              <a:t>True: Speed Limit 30</a:t>
            </a:r>
          </a:p>
          <a:p>
            <a:pPr>
              <a:defRPr sz="135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000000"/>
                </a:solidFill>
                <a:latin typeface="Aptos"/>
                <a:ea typeface="Aptos"/>
                <a:cs typeface="Aptos"/>
              </a:rPr>
              <a:t>Predicted: Speed Limit 35</a:t>
            </a:r>
          </a:p>
          <a:p>
            <a:pPr>
              <a:defRPr sz="135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000000"/>
                </a:solidFill>
                <a:latin typeface="Aptos"/>
                <a:ea typeface="Aptos"/>
                <a:cs typeface="Aptos"/>
              </a:rPr>
              <a:t>Recall: 71.4% (15/21)</a:t>
            </a:r>
          </a:p>
        </p:txBody>
      </p:sp>
      <p:sp>
        <p:nvSpPr>
          <p:cNvPr id="11" name="lisa-overall">
            <a:extLst>
              <a:ext uri="{FF2B5EF4-FFF2-40B4-BE49-F238E27FC236}">
                <a16:creationId xmlns:a16="http://schemas.microsoft.com/office/drawing/2014/main" id="{7C702B46-6420-4866-BCE6-20C9D9CE06D4}"/>
              </a:ext>
            </a:extLst>
          </p:cNvPr>
          <p:cNvSpPr>
            <a:spLocks noGrp="1"/>
          </p:cNvSpPr>
          <p:nvPr/>
        </p:nvSpPr>
        <p:spPr>
          <a:xfrm>
            <a:off x="704850" y="6048375"/>
            <a:ext cx="7429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defRPr sz="135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Overall: 89.90% top-1 · 84.93% macro class accuracy</a:t>
            </a:r>
          </a:p>
        </p:txBody>
      </p:sp>
      <p:sp>
        <p:nvSpPr>
          <p:cNvPr id="12" name="lisa-camera-caveat">
            <a:extLst>
              <a:ext uri="{FF2B5EF4-FFF2-40B4-BE49-F238E27FC236}">
                <a16:creationId xmlns:a16="http://schemas.microsoft.com/office/drawing/2014/main" id="{8176778B-AF40-4253-8403-673150E56E3C}"/>
              </a:ext>
            </a:extLst>
          </p:cNvPr>
          <p:cNvSpPr>
            <a:spLocks noGrp="1"/>
          </p:cNvSpPr>
          <p:nvPr/>
        </p:nvSpPr>
        <p:spPr>
          <a:xfrm>
            <a:off x="704850" y="6343650"/>
            <a:ext cx="766762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defRPr sz="1200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000000"/>
                </a:solidFill>
                <a:latin typeface="Aptos"/>
                <a:ea typeface="Aptos"/>
                <a:cs typeface="Aptos"/>
              </a:rPr>
              <a:t>Test scores use prepared crops; they do not measure BuggyBot’s live camera pipeline.</a:t>
            </a:r>
          </a:p>
        </p:txBody>
      </p:sp>
    </p:spTree>
    <p:extLst>
      <p:ext uri="{BB962C8B-B14F-4D97-AF65-F5344CB8AC3E}">
        <p14:creationId xmlns:p14="http://schemas.microsoft.com/office/powerpoint/2010/main" val="365570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lide-title">
            <a:extLst>
              <a:ext uri="{FF2B5EF4-FFF2-40B4-BE49-F238E27FC236}">
                <a16:creationId xmlns:a16="http://schemas.microsoft.com/office/drawing/2014/main" id="{D69184A5-FC43-46B3-822B-E7045C706EDB}"/>
              </a:ext>
            </a:extLst>
          </p:cNvPr>
          <p:cNvSpPr>
            <a:spLocks noGrp="1"/>
          </p:cNvSpPr>
          <p:nvPr/>
        </p:nvSpPr>
        <p:spPr>
          <a:xfrm>
            <a:off x="914400" y="590550"/>
            <a:ext cx="106680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defRPr sz="4200">
                <a:solidFill>
                  <a:srgbClr val="000000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>
                <a:solidFill>
                  <a:srgbClr val="000000"/>
                </a:solidFill>
                <a:latin typeface="Aptos Display"/>
                <a:ea typeface="Aptos Display"/>
                <a:cs typeface="Aptos Display"/>
              </a:rPr>
              <a:t>Mapillary Data Preparation</a:t>
            </a:r>
          </a:p>
        </p:txBody>
      </p:sp>
      <p:sp>
        <p:nvSpPr>
          <p:cNvPr id="2" name="mapillary-gallery-label">
            <a:extLst>
              <a:ext uri="{FF2B5EF4-FFF2-40B4-BE49-F238E27FC236}">
                <a16:creationId xmlns:a16="http://schemas.microsoft.com/office/drawing/2014/main" id="{7649E00A-9F17-4050-BC07-1A6FDB7359C2}"/>
              </a:ext>
            </a:extLst>
          </p:cNvPr>
          <p:cNvSpPr>
            <a:spLocks noGrp="1"/>
          </p:cNvSpPr>
          <p:nvPr/>
        </p:nvSpPr>
        <p:spPr>
          <a:xfrm>
            <a:off x="666750" y="1447800"/>
            <a:ext cx="4953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defRPr sz="1425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Prepared training crops · one example per class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14375" y="1933575"/>
            <a:ext cx="914400" cy="914400"/>
          </a:xfrm>
          <a:prstGeom prst="rect">
            <a:avLst/>
          </a:prstGeom>
        </p:spPr>
      </p:pic>
      <p:sp>
        <p:nvSpPr>
          <p:cNvPr id="4" name="mapillary-label-addedLane">
            <a:extLst>
              <a:ext uri="{FF2B5EF4-FFF2-40B4-BE49-F238E27FC236}">
                <a16:creationId xmlns:a16="http://schemas.microsoft.com/office/drawing/2014/main" id="{3744D9A2-08AE-47BC-9AAE-8592BBE4527B}"/>
              </a:ext>
            </a:extLst>
          </p:cNvPr>
          <p:cNvSpPr>
            <a:spLocks noGrp="1"/>
          </p:cNvSpPr>
          <p:nvPr/>
        </p:nvSpPr>
        <p:spPr>
          <a:xfrm>
            <a:off x="628650" y="2876550"/>
            <a:ext cx="10858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 algn="ctr">
              <a:defRPr sz="1125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000000"/>
                </a:solidFill>
                <a:latin typeface="Aptos"/>
                <a:ea typeface="Aptos"/>
                <a:cs typeface="Aptos"/>
              </a:rPr>
              <a:t>Added Lane</a:t>
            </a:r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14525" y="1933575"/>
            <a:ext cx="914400" cy="914400"/>
          </a:xfrm>
          <a:prstGeom prst="rect">
            <a:avLst/>
          </a:prstGeom>
        </p:spPr>
      </p:pic>
      <p:sp>
        <p:nvSpPr>
          <p:cNvPr id="6" name="mapillary-label-keepRight">
            <a:extLst>
              <a:ext uri="{FF2B5EF4-FFF2-40B4-BE49-F238E27FC236}">
                <a16:creationId xmlns:a16="http://schemas.microsoft.com/office/drawing/2014/main" id="{4733F377-7801-4ACA-95CB-FB4F842908C5}"/>
              </a:ext>
            </a:extLst>
          </p:cNvPr>
          <p:cNvSpPr>
            <a:spLocks noGrp="1"/>
          </p:cNvSpPr>
          <p:nvPr/>
        </p:nvSpPr>
        <p:spPr>
          <a:xfrm>
            <a:off x="1828800" y="2876550"/>
            <a:ext cx="10858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 algn="ctr">
              <a:defRPr sz="1125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000000"/>
                </a:solidFill>
                <a:latin typeface="Aptos"/>
                <a:ea typeface="Aptos"/>
                <a:cs typeface="Aptos"/>
              </a:rPr>
              <a:t>Keep Right</a:t>
            </a:r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114675" y="1933575"/>
            <a:ext cx="914400" cy="914400"/>
          </a:xfrm>
          <a:prstGeom prst="rect">
            <a:avLst/>
          </a:prstGeom>
        </p:spPr>
      </p:pic>
      <p:sp>
        <p:nvSpPr>
          <p:cNvPr id="8" name="mapillary-label-merge">
            <a:extLst>
              <a:ext uri="{FF2B5EF4-FFF2-40B4-BE49-F238E27FC236}">
                <a16:creationId xmlns:a16="http://schemas.microsoft.com/office/drawing/2014/main" id="{69F98927-4EBA-493E-9E97-A7CEBD266CA0}"/>
              </a:ext>
            </a:extLst>
          </p:cNvPr>
          <p:cNvSpPr>
            <a:spLocks noGrp="1"/>
          </p:cNvSpPr>
          <p:nvPr/>
        </p:nvSpPr>
        <p:spPr>
          <a:xfrm>
            <a:off x="3028950" y="2876550"/>
            <a:ext cx="10858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 algn="ctr">
              <a:defRPr sz="1125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000000"/>
                </a:solidFill>
                <a:latin typeface="Aptos"/>
                <a:ea typeface="Aptos"/>
                <a:cs typeface="Aptos"/>
              </a:rPr>
              <a:t>Merge</a:t>
            </a:r>
          </a:p>
        </p:txBody>
      </p:sp>
      <p:pic>
        <p:nvPicPr>
          <p:cNvPr id="37" name="Picture 3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4314825" y="1933575"/>
            <a:ext cx="914400" cy="914400"/>
          </a:xfrm>
          <a:prstGeom prst="rect">
            <a:avLst/>
          </a:prstGeom>
        </p:spPr>
      </p:pic>
      <p:sp>
        <p:nvSpPr>
          <p:cNvPr id="10" name="mapillary-label-pedestrianCrossing">
            <a:extLst>
              <a:ext uri="{FF2B5EF4-FFF2-40B4-BE49-F238E27FC236}">
                <a16:creationId xmlns:a16="http://schemas.microsoft.com/office/drawing/2014/main" id="{19EA3CE1-EB3E-4AF6-8E58-5A1B79BA8E7B}"/>
              </a:ext>
            </a:extLst>
          </p:cNvPr>
          <p:cNvSpPr>
            <a:spLocks noGrp="1"/>
          </p:cNvSpPr>
          <p:nvPr/>
        </p:nvSpPr>
        <p:spPr>
          <a:xfrm>
            <a:off x="4229100" y="2876550"/>
            <a:ext cx="10858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 algn="ctr">
              <a:defRPr sz="1125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000000"/>
                </a:solidFill>
                <a:latin typeface="Aptos"/>
                <a:ea typeface="Aptos"/>
                <a:cs typeface="Aptos"/>
              </a:rPr>
              <a:t>Pedestrian</a:t>
            </a:r>
          </a:p>
        </p:txBody>
      </p:sp>
      <p:pic>
        <p:nvPicPr>
          <p:cNvPr id="39" name="Picture 3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714375" y="3190875"/>
            <a:ext cx="914400" cy="914400"/>
          </a:xfrm>
          <a:prstGeom prst="rect">
            <a:avLst/>
          </a:prstGeom>
        </p:spPr>
      </p:pic>
      <p:sp>
        <p:nvSpPr>
          <p:cNvPr id="12" name="mapillary-label-school">
            <a:extLst>
              <a:ext uri="{FF2B5EF4-FFF2-40B4-BE49-F238E27FC236}">
                <a16:creationId xmlns:a16="http://schemas.microsoft.com/office/drawing/2014/main" id="{33B383A7-8C2B-4EEC-83E3-6D32ACFB8C14}"/>
              </a:ext>
            </a:extLst>
          </p:cNvPr>
          <p:cNvSpPr>
            <a:spLocks noGrp="1"/>
          </p:cNvSpPr>
          <p:nvPr/>
        </p:nvSpPr>
        <p:spPr>
          <a:xfrm>
            <a:off x="628650" y="4133850"/>
            <a:ext cx="10858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 algn="ctr">
              <a:defRPr sz="1125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000000"/>
                </a:solidFill>
                <a:latin typeface="Aptos"/>
                <a:ea typeface="Aptos"/>
                <a:cs typeface="Aptos"/>
              </a:rPr>
              <a:t>School</a:t>
            </a:r>
          </a:p>
        </p:txBody>
      </p:sp>
      <p:pic>
        <p:nvPicPr>
          <p:cNvPr id="41" name="Picture 40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1914525" y="3190875"/>
            <a:ext cx="914400" cy="914400"/>
          </a:xfrm>
          <a:prstGeom prst="rect">
            <a:avLst/>
          </a:prstGeom>
        </p:spPr>
      </p:pic>
      <p:sp>
        <p:nvSpPr>
          <p:cNvPr id="14" name="mapillary-label-signalAhead">
            <a:extLst>
              <a:ext uri="{FF2B5EF4-FFF2-40B4-BE49-F238E27FC236}">
                <a16:creationId xmlns:a16="http://schemas.microsoft.com/office/drawing/2014/main" id="{ECF62389-CE52-4C5F-9DE3-ABAD75BA0164}"/>
              </a:ext>
            </a:extLst>
          </p:cNvPr>
          <p:cNvSpPr>
            <a:spLocks noGrp="1"/>
          </p:cNvSpPr>
          <p:nvPr/>
        </p:nvSpPr>
        <p:spPr>
          <a:xfrm>
            <a:off x="1828800" y="4133850"/>
            <a:ext cx="10858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 algn="ctr">
              <a:defRPr sz="1125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000000"/>
                </a:solidFill>
                <a:latin typeface="Aptos"/>
                <a:ea typeface="Aptos"/>
                <a:cs typeface="Aptos"/>
              </a:rPr>
              <a:t>Signal Ahead</a:t>
            </a:r>
          </a:p>
        </p:txBody>
      </p:sp>
      <p:pic>
        <p:nvPicPr>
          <p:cNvPr id="43" name="Picture 42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3114675" y="3190875"/>
            <a:ext cx="914400" cy="914400"/>
          </a:xfrm>
          <a:prstGeom prst="rect">
            <a:avLst/>
          </a:prstGeom>
        </p:spPr>
      </p:pic>
      <p:sp>
        <p:nvSpPr>
          <p:cNvPr id="16" name="mapillary-label-speedLimit25">
            <a:extLst>
              <a:ext uri="{FF2B5EF4-FFF2-40B4-BE49-F238E27FC236}">
                <a16:creationId xmlns:a16="http://schemas.microsoft.com/office/drawing/2014/main" id="{1120D8E3-41E7-40E0-838D-9DB4E581937C}"/>
              </a:ext>
            </a:extLst>
          </p:cNvPr>
          <p:cNvSpPr>
            <a:spLocks noGrp="1"/>
          </p:cNvSpPr>
          <p:nvPr/>
        </p:nvSpPr>
        <p:spPr>
          <a:xfrm>
            <a:off x="3028950" y="4133850"/>
            <a:ext cx="10858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 algn="ctr">
              <a:defRPr sz="1125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000000"/>
                </a:solidFill>
                <a:latin typeface="Aptos"/>
                <a:ea typeface="Aptos"/>
                <a:cs typeface="Aptos"/>
              </a:rPr>
              <a:t>Speed 25</a:t>
            </a:r>
          </a:p>
        </p:txBody>
      </p:sp>
      <p:pic>
        <p:nvPicPr>
          <p:cNvPr id="45" name="Picture 44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4314825" y="3190875"/>
            <a:ext cx="914400" cy="914400"/>
          </a:xfrm>
          <a:prstGeom prst="rect">
            <a:avLst/>
          </a:prstGeom>
        </p:spPr>
      </p:pic>
      <p:sp>
        <p:nvSpPr>
          <p:cNvPr id="18" name="mapillary-label-speedLimit30">
            <a:extLst>
              <a:ext uri="{FF2B5EF4-FFF2-40B4-BE49-F238E27FC236}">
                <a16:creationId xmlns:a16="http://schemas.microsoft.com/office/drawing/2014/main" id="{6E936109-9D79-42C6-BF3C-50B9EA2629D6}"/>
              </a:ext>
            </a:extLst>
          </p:cNvPr>
          <p:cNvSpPr>
            <a:spLocks noGrp="1"/>
          </p:cNvSpPr>
          <p:nvPr/>
        </p:nvSpPr>
        <p:spPr>
          <a:xfrm>
            <a:off x="4229100" y="4133850"/>
            <a:ext cx="10858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 algn="ctr">
              <a:defRPr sz="1125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000000"/>
                </a:solidFill>
                <a:latin typeface="Aptos"/>
                <a:ea typeface="Aptos"/>
                <a:cs typeface="Aptos"/>
              </a:rPr>
              <a:t>Speed 30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714375" y="4448175"/>
            <a:ext cx="914400" cy="914400"/>
          </a:xfrm>
          <a:prstGeom prst="rect">
            <a:avLst/>
          </a:prstGeom>
        </p:spPr>
      </p:pic>
      <p:sp>
        <p:nvSpPr>
          <p:cNvPr id="20" name="mapillary-label-speedLimit35">
            <a:extLst>
              <a:ext uri="{FF2B5EF4-FFF2-40B4-BE49-F238E27FC236}">
                <a16:creationId xmlns:a16="http://schemas.microsoft.com/office/drawing/2014/main" id="{4EDFB993-2D80-46F6-A687-8F9FAF7865D1}"/>
              </a:ext>
            </a:extLst>
          </p:cNvPr>
          <p:cNvSpPr>
            <a:spLocks noGrp="1"/>
          </p:cNvSpPr>
          <p:nvPr/>
        </p:nvSpPr>
        <p:spPr>
          <a:xfrm>
            <a:off x="628650" y="5391150"/>
            <a:ext cx="10858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 algn="ctr">
              <a:defRPr sz="1125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000000"/>
                </a:solidFill>
                <a:latin typeface="Aptos"/>
                <a:ea typeface="Aptos"/>
                <a:cs typeface="Aptos"/>
              </a:rPr>
              <a:t>Speed 35</a:t>
            </a:r>
          </a:p>
        </p:txBody>
      </p:sp>
      <p:pic>
        <p:nvPicPr>
          <p:cNvPr id="49" name="Picture 48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1914525" y="4448175"/>
            <a:ext cx="914400" cy="914400"/>
          </a:xfrm>
          <a:prstGeom prst="rect">
            <a:avLst/>
          </a:prstGeom>
        </p:spPr>
      </p:pic>
      <p:sp>
        <p:nvSpPr>
          <p:cNvPr id="22" name="mapillary-label-speedLimit45">
            <a:extLst>
              <a:ext uri="{FF2B5EF4-FFF2-40B4-BE49-F238E27FC236}">
                <a16:creationId xmlns:a16="http://schemas.microsoft.com/office/drawing/2014/main" id="{5E058768-7BA2-4BAD-A7C1-91BAB5B352AB}"/>
              </a:ext>
            </a:extLst>
          </p:cNvPr>
          <p:cNvSpPr>
            <a:spLocks noGrp="1"/>
          </p:cNvSpPr>
          <p:nvPr/>
        </p:nvSpPr>
        <p:spPr>
          <a:xfrm>
            <a:off x="1828800" y="5391150"/>
            <a:ext cx="10858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 algn="ctr">
              <a:defRPr sz="1125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000000"/>
                </a:solidFill>
                <a:latin typeface="Aptos"/>
                <a:ea typeface="Aptos"/>
                <a:cs typeface="Aptos"/>
              </a:rPr>
              <a:t>Speed 45</a:t>
            </a:r>
          </a:p>
        </p:txBody>
      </p:sp>
      <p:pic>
        <p:nvPicPr>
          <p:cNvPr id="51" name="Picture 50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3114675" y="4448175"/>
            <a:ext cx="914400" cy="914400"/>
          </a:xfrm>
          <a:prstGeom prst="rect">
            <a:avLst/>
          </a:prstGeom>
        </p:spPr>
      </p:pic>
      <p:sp>
        <p:nvSpPr>
          <p:cNvPr id="24" name="mapillary-label-speedLimit65">
            <a:extLst>
              <a:ext uri="{FF2B5EF4-FFF2-40B4-BE49-F238E27FC236}">
                <a16:creationId xmlns:a16="http://schemas.microsoft.com/office/drawing/2014/main" id="{1E08C660-E9CB-4BEE-A4EA-3FA8509D4DEC}"/>
              </a:ext>
            </a:extLst>
          </p:cNvPr>
          <p:cNvSpPr>
            <a:spLocks noGrp="1"/>
          </p:cNvSpPr>
          <p:nvPr/>
        </p:nvSpPr>
        <p:spPr>
          <a:xfrm>
            <a:off x="3028950" y="5391150"/>
            <a:ext cx="10858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 algn="ctr">
              <a:defRPr sz="1125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000000"/>
                </a:solidFill>
                <a:latin typeface="Aptos"/>
                <a:ea typeface="Aptos"/>
                <a:cs typeface="Aptos"/>
              </a:rPr>
              <a:t>Speed 65</a:t>
            </a:r>
          </a:p>
        </p:txBody>
      </p:sp>
      <p:pic>
        <p:nvPicPr>
          <p:cNvPr id="53" name="Picture 52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4314825" y="4448175"/>
            <a:ext cx="914400" cy="914400"/>
          </a:xfrm>
          <a:prstGeom prst="rect">
            <a:avLst/>
          </a:prstGeom>
        </p:spPr>
      </p:pic>
      <p:sp>
        <p:nvSpPr>
          <p:cNvPr id="26" name="mapillary-label-stop">
            <a:extLst>
              <a:ext uri="{FF2B5EF4-FFF2-40B4-BE49-F238E27FC236}">
                <a16:creationId xmlns:a16="http://schemas.microsoft.com/office/drawing/2014/main" id="{2C164AF5-BC37-444D-887F-D63FD68C43A4}"/>
              </a:ext>
            </a:extLst>
          </p:cNvPr>
          <p:cNvSpPr>
            <a:spLocks noGrp="1"/>
          </p:cNvSpPr>
          <p:nvPr/>
        </p:nvSpPr>
        <p:spPr>
          <a:xfrm>
            <a:off x="4229100" y="5391150"/>
            <a:ext cx="10858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 algn="ctr">
              <a:defRPr sz="1125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000000"/>
                </a:solidFill>
                <a:latin typeface="Aptos"/>
                <a:ea typeface="Aptos"/>
                <a:cs typeface="Aptos"/>
              </a:rPr>
              <a:t>Stop</a:t>
            </a:r>
          </a:p>
        </p:txBody>
      </p:sp>
      <p:sp>
        <p:nvSpPr>
          <p:cNvPr id="27" name="section-preparation">
            <a:extLst>
              <a:ext uri="{FF2B5EF4-FFF2-40B4-BE49-F238E27FC236}">
                <a16:creationId xmlns:a16="http://schemas.microsoft.com/office/drawing/2014/main" id="{1CD39409-C4BE-47B8-8096-E91D03728C96}"/>
              </a:ext>
            </a:extLst>
          </p:cNvPr>
          <p:cNvSpPr>
            <a:spLocks noGrp="1"/>
          </p:cNvSpPr>
          <p:nvPr/>
        </p:nvSpPr>
        <p:spPr>
          <a:xfrm>
            <a:off x="5953125" y="1809750"/>
            <a:ext cx="5143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>
              <a:defRPr sz="1800" b="1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00000"/>
                </a:solidFill>
                <a:latin typeface="Aptos"/>
                <a:ea typeface="Aptos"/>
                <a:cs typeface="Aptos"/>
              </a:rPr>
              <a:t>Preparation</a:t>
            </a:r>
          </a:p>
        </p:txBody>
      </p:sp>
      <p:sp>
        <p:nvSpPr>
          <p:cNvPr id="28" name="mapillary-summary">
            <a:extLst>
              <a:ext uri="{FF2B5EF4-FFF2-40B4-BE49-F238E27FC236}">
                <a16:creationId xmlns:a16="http://schemas.microsoft.com/office/drawing/2014/main" id="{4C892EF0-634D-4887-977B-2DA260F891B1}"/>
              </a:ext>
            </a:extLst>
          </p:cNvPr>
          <p:cNvSpPr>
            <a:spLocks noGrp="1"/>
          </p:cNvSpPr>
          <p:nvPr/>
        </p:nvSpPr>
        <p:spPr>
          <a:xfrm>
            <a:off x="6029325" y="2266950"/>
            <a:ext cx="5334000" cy="2476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rmAutofit/>
          </a:bodyPr>
          <a:lstStyle/>
          <a:p>
            <a:pPr marL="228600" indent="-114300">
              <a:spcAft>
                <a:spcPts val="700"/>
              </a:spcAft>
              <a:buChar char="•"/>
              <a:defRPr sz="1575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000000"/>
                </a:solidFill>
                <a:latin typeface="Aptos"/>
                <a:ea typeface="Aptos"/>
                <a:cs typeface="Aptos"/>
              </a:rPr>
              <a:t>Sourced Mapillary road-scene images for the same 12 U.S. sign classes.</a:t>
            </a:r>
          </a:p>
          <a:p>
            <a:pPr marL="228600" indent="-114300">
              <a:spcAft>
                <a:spcPts val="700"/>
              </a:spcAft>
              <a:buChar char="•"/>
              <a:defRPr sz="1575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000000"/>
                </a:solidFill>
                <a:latin typeface="Aptos"/>
                <a:ea typeface="Aptos"/>
                <a:cs typeface="Aptos"/>
              </a:rPr>
              <a:t>Prepared 3,449 cropped signs: 2,655 train, 362 validation, and 432 test.</a:t>
            </a:r>
          </a:p>
          <a:p>
            <a:pPr marL="228600" indent="-114300">
              <a:spcAft>
                <a:spcPts val="700"/>
              </a:spcAft>
              <a:buChar char="•"/>
              <a:defRPr sz="1575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000000"/>
                </a:solidFill>
                <a:latin typeface="Aptos"/>
                <a:ea typeface="Aptos"/>
                <a:cs typeface="Aptos"/>
              </a:rPr>
              <a:t>Next: train and evaluate the model, then consider combining Mapillary with LISA.</a:t>
            </a:r>
          </a:p>
        </p:txBody>
      </p:sp>
    </p:spTree>
    <p:extLst>
      <p:ext uri="{BB962C8B-B14F-4D97-AF65-F5344CB8AC3E}">
        <p14:creationId xmlns:p14="http://schemas.microsoft.com/office/powerpoint/2010/main" val="192900247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447</Words>
  <Application>Microsoft Macintosh PowerPoint</Application>
  <DocSecurity>0</DocSecurity>
  <PresentationFormat>Widescreen</PresentationFormat>
  <Paragraphs>46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Calibri</vt:lpstr>
      <vt:lpstr>ChatGPT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Wells, Ethan Rhys</cp:lastModifiedBy>
  <cp:revision>1</cp:revision>
  <dcterms:created xsi:type="dcterms:W3CDTF">2026-10-06T18:05:53Z</dcterms:created>
  <dcterms:modified xsi:type="dcterms:W3CDTF">2026-10-06T18:08:50Z</dcterms:modified>
</cp:coreProperties>
</file>