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/>
    <p:restoredTop sz="94669"/>
  </p:normalViewPr>
  <p:slideViewPr>
    <p:cSldViewPr snapToGrid="0" snapToObjects="1">
      <p:cViewPr varScale="1">
        <p:scale>
          <a:sx n="114" d="100"/>
          <a:sy n="114" d="100"/>
        </p:scale>
        <p:origin x="40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3500" b="0">
                <a:solidFill>
                  <a:srgbClr val="000000"/>
                </a:solidFill>
                <a:latin typeface="Aptos Display"/>
              </a:rPr>
              <a:t>Ethan Wells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ptos"/>
              </a:rPr>
              <a:t>Week 8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600200"/>
            <a:ext cx="7589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ptos"/>
              </a:rPr>
              <a:t>Goals for the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947672"/>
            <a:ext cx="75895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Train the Mapillary model and, if time allowed, combine it with LISA.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423160"/>
            <a:ext cx="7589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ptos"/>
              </a:rPr>
              <a:t>Progress for the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770632"/>
            <a:ext cx="7589520" cy="1600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Trained the Mapillary model: 92.59% top-1 (400/432) on its own test crops.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Merged LISA + Mapillary: 7,601 train, 929 validation, 1,016 test crops.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Trained the combined model: 99.31% top-1 (1,009/1,016), 98.55% macro F1.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Compared all three models on the same 1,016 held-out crops.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Prepared 12 printable sign-card designs.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343400"/>
            <a:ext cx="7589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ptos"/>
              </a:rPr>
              <a:t>Goals for next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690872"/>
            <a:ext cx="758952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Print the cards and capture them with the CM5 camera at set distances and angles.</a:t>
            </a:r>
          </a:p>
          <a:p>
            <a:pPr marL="228600" indent="-182880" algn="l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Aptos"/>
              </a:rPr>
              <a:t>Score the camera crops separately from the road-scene crop benchmark.</a:t>
            </a:r>
          </a:p>
        </p:txBody>
      </p:sp>
      <p:sp>
        <p:nvSpPr>
          <p:cNvPr id="10" name="Result card"/>
          <p:cNvSpPr/>
          <p:nvPr/>
        </p:nvSpPr>
        <p:spPr>
          <a:xfrm>
            <a:off x="8732520" y="1645920"/>
            <a:ext cx="2697480" cy="2148840"/>
          </a:xfrm>
          <a:prstGeom prst="roundRect">
            <a:avLst>
              <a:gd name="adj" fmla="val 8000"/>
            </a:avLst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15400" y="1810512"/>
            <a:ext cx="23317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313F"/>
                </a:solidFill>
                <a:latin typeface="Aptos"/>
              </a:rPr>
              <a:t>Week goal met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148840"/>
            <a:ext cx="2331720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30669D"/>
                </a:solidFill>
                <a:latin typeface="Aptos"/>
              </a:rPr>
              <a:t>99.31%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926080"/>
            <a:ext cx="2331720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Combined-model top-1 on 1,016 held-out crops</a:t>
            </a:r>
          </a:p>
        </p:txBody>
      </p:sp>
      <p:sp>
        <p:nvSpPr>
          <p:cNvPr id="14" name="Hours card"/>
          <p:cNvSpPr/>
          <p:nvPr/>
        </p:nvSpPr>
        <p:spPr>
          <a:xfrm>
            <a:off x="8732520" y="4023360"/>
            <a:ext cx="2697480" cy="1783080"/>
          </a:xfrm>
          <a:prstGeom prst="roundRect">
            <a:avLst>
              <a:gd name="adj" fmla="val 8000"/>
            </a:avLst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15400" y="4187952"/>
            <a:ext cx="23317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313F"/>
                </a:solidFill>
                <a:latin typeface="Aptos"/>
              </a:rPr>
              <a:t>Hours spent on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4526280"/>
            <a:ext cx="2331720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00000"/>
                </a:solidFill>
                <a:latin typeface="Aptos"/>
              </a:rPr>
              <a:t>8</a:t>
            </a:r>
            <a:r>
              <a:rPr sz="1800" b="1">
                <a:solidFill>
                  <a:srgbClr val="000000"/>
                </a:solidFill>
                <a:latin typeface="Aptos"/>
              </a:rPr>
              <a:t> hours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5303520"/>
            <a:ext cx="23317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10/9, 10/12, 10/13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3500" b="0">
                <a:solidFill>
                  <a:srgbClr val="000000"/>
                </a:solidFill>
                <a:latin typeface="Aptos Display"/>
              </a:rPr>
              <a:t>The combined model led on the shared test set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ptos"/>
              </a:rPr>
              <a:t>Top-1 accuracy on the same 1,016 held-out crops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48256"/>
            <a:ext cx="13716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ptos"/>
              </a:rPr>
              <a:t>LISA</a:t>
            </a:r>
          </a:p>
        </p:txBody>
      </p:sp>
      <p:sp>
        <p:nvSpPr>
          <p:cNvPr id="5" name="Rectangle 4"/>
          <p:cNvSpPr/>
          <p:nvPr/>
        </p:nvSpPr>
        <p:spPr>
          <a:xfrm>
            <a:off x="2331720" y="1993392"/>
            <a:ext cx="6812280" cy="530352"/>
          </a:xfrm>
          <a:prstGeom prst="rect">
            <a:avLst/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331720" y="1993392"/>
            <a:ext cx="5786350" cy="530352"/>
          </a:xfrm>
          <a:prstGeom prst="rect">
            <a:avLst/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45168" y="2066544"/>
            <a:ext cx="20574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ptos"/>
              </a:rPr>
              <a:t>84.94%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96896"/>
            <a:ext cx="20116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863 / 1,016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91256"/>
            <a:ext cx="13716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ptos"/>
              </a:rPr>
              <a:t>Mapillary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3136392"/>
            <a:ext cx="6812280" cy="530352"/>
          </a:xfrm>
          <a:prstGeom prst="rect">
            <a:avLst/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331720" y="3136392"/>
            <a:ext cx="4908247" cy="530352"/>
          </a:xfrm>
          <a:prstGeom prst="rect">
            <a:avLst/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45168" y="3209544"/>
            <a:ext cx="20574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ptos"/>
              </a:rPr>
              <a:t>72.05%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739896"/>
            <a:ext cx="20116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732 / 1,016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34255"/>
            <a:ext cx="13716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ptos"/>
              </a:rPr>
              <a:t>Combined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4279392"/>
            <a:ext cx="6812280" cy="530352"/>
          </a:xfrm>
          <a:prstGeom prst="rect">
            <a:avLst/>
          </a:prstGeom>
          <a:solidFill>
            <a:srgbClr val="EFF4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331720" y="4279392"/>
            <a:ext cx="6765275" cy="530352"/>
          </a:xfrm>
          <a:prstGeom prst="rect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45168" y="4352544"/>
            <a:ext cx="20574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ptos"/>
              </a:rPr>
              <a:t>99.31%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82896"/>
            <a:ext cx="20116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1,009 / 1,016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486400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30669D"/>
                </a:solidFill>
                <a:latin typeface="Aptos"/>
              </a:rPr>
              <a:t>Combined result: 98.55% macro F1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en-US" sz="3500" b="0" dirty="0">
                <a:solidFill>
                  <a:srgbClr val="000000"/>
                </a:solidFill>
                <a:latin typeface="Aptos Display"/>
              </a:rPr>
              <a:t>Pain points and struggles</a:t>
            </a:r>
            <a:endParaRPr sz="3500" b="0" dirty="0">
              <a:solidFill>
                <a:srgbClr val="000000"/>
              </a:solidFill>
              <a:latin typeface="Aptos Display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Aptos"/>
              </a:rPr>
              <a:t>Top-1 accuracy split by where each test crop came from (same 1,016 crops)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1664208"/>
            <a:ext cx="1874519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LISA crops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584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79976" y="1664208"/>
            <a:ext cx="1874519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Mapillary crops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432 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240280"/>
            <a:ext cx="1572768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LISA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95728" y="2240280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95728" y="2368296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89.90%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843784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525 / 584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2240280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F6DE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79976" y="2368296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9E3A26"/>
                </a:solidFill>
                <a:latin typeface="Aptos"/>
              </a:rPr>
              <a:t>78.24%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2843784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E3A26"/>
                </a:solidFill>
                <a:latin typeface="Aptos"/>
              </a:rPr>
              <a:t>338 / 432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74136"/>
            <a:ext cx="1572768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Mapillary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5728" y="3374136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F6DE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95728" y="3502152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9E3A26"/>
                </a:solidFill>
                <a:latin typeface="Aptos"/>
              </a:rPr>
              <a:t>56.85%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3977640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E3A26"/>
                </a:solidFill>
                <a:latin typeface="Aptos"/>
              </a:rPr>
              <a:t>332 / 584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3374136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79976" y="3502152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92.59%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9976" y="3977640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400 / 432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507992"/>
            <a:ext cx="1572768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Combined model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95728" y="4507992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95728" y="4636008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99.66%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5111496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582 / 584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4507992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79976" y="4636008"/>
            <a:ext cx="187451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98.84%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9976" y="5111496"/>
            <a:ext cx="1874519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Aptos"/>
              </a:rPr>
              <a:t>427 / 432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95728" y="5751576"/>
            <a:ext cx="164592" cy="164592"/>
          </a:xfrm>
          <a:prstGeom prst="rect">
            <a:avLst/>
          </a:prstGeom>
          <a:solidFill>
            <a:srgbClr val="7884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615184" y="5687568"/>
            <a:ext cx="10972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Own dataset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21608" y="5751576"/>
            <a:ext cx="164592" cy="164592"/>
          </a:xfrm>
          <a:prstGeom prst="rect">
            <a:avLst/>
          </a:prstGeom>
          <a:solidFill>
            <a:srgbClr val="F6DE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941064" y="5687568"/>
            <a:ext cx="10972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Other dataset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5751576"/>
            <a:ext cx="164592" cy="164592"/>
          </a:xfrm>
          <a:prstGeom prst="rect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6944" y="5687568"/>
            <a:ext cx="10972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2313F"/>
                </a:solidFill>
                <a:latin typeface="Aptos"/>
              </a:rPr>
              <a:t>Both</a:t>
            </a:r>
          </a:p>
        </p:txBody>
      </p:sp>
      <p:sp>
        <p:nvSpPr>
          <p:cNvPr id="33" name="Oval 32"/>
          <p:cNvSpPr/>
          <p:nvPr/>
        </p:nvSpPr>
        <p:spPr>
          <a:xfrm>
            <a:off x="6720840" y="1709928"/>
            <a:ext cx="384048" cy="384048"/>
          </a:xfrm>
          <a:prstGeom prst="ellipse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20840" y="1709928"/>
            <a:ext cx="384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79" y="1691640"/>
            <a:ext cx="4160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ptos"/>
              </a:rPr>
              <a:t>Different image styles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79" y="2039112"/>
            <a:ext cx="416052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40% of LISA training crops are grayscale; 0.4% of Mapillary's are. The Mapillary model scored 43% on grayscale LISA crops and 67% on color ones.</a:t>
            </a:r>
          </a:p>
        </p:txBody>
      </p:sp>
      <p:sp>
        <p:nvSpPr>
          <p:cNvPr id="37" name="Oval 36"/>
          <p:cNvSpPr/>
          <p:nvPr/>
        </p:nvSpPr>
        <p:spPr>
          <a:xfrm>
            <a:off x="6720840" y="3035808"/>
            <a:ext cx="384048" cy="384048"/>
          </a:xfrm>
          <a:prstGeom prst="ellipse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720840" y="3035808"/>
            <a:ext cx="384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79" y="3017520"/>
            <a:ext cx="4160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ptos"/>
              </a:rPr>
              <a:t>Thin classes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479" y="3364991"/>
            <a:ext cx="416052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Mapillary had only 19 Speed 65, 32 Added Lane, and 45 Speed 45 training crops. On LISA's crops it got 0/14, 0/26, and 1/25.</a:t>
            </a:r>
          </a:p>
        </p:txBody>
      </p:sp>
      <p:sp>
        <p:nvSpPr>
          <p:cNvPr id="41" name="Oval 40"/>
          <p:cNvSpPr/>
          <p:nvPr/>
        </p:nvSpPr>
        <p:spPr>
          <a:xfrm>
            <a:off x="6720840" y="4361688"/>
            <a:ext cx="384048" cy="384048"/>
          </a:xfrm>
          <a:prstGeom prst="ellipse">
            <a:avLst/>
          </a:prstGeom>
          <a:solidFill>
            <a:srgbClr val="3066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20840" y="4361688"/>
            <a:ext cx="38404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79" y="4343400"/>
            <a:ext cx="41605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ptos"/>
              </a:rPr>
              <a:t>Combined model saw both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69479" y="4690872"/>
            <a:ext cx="416052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2313F"/>
                </a:solidFill>
                <a:latin typeface="Aptos"/>
              </a:rPr>
              <a:t>It trained on all 7,601 crops, with both styles in every class: 99.66% on LISA crops and 98.84% on Mapillary crops.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68096" y="365760"/>
            <a:ext cx="107899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3500" b="0">
                <a:solidFill>
                  <a:srgbClr val="000000"/>
                </a:solidFill>
                <a:latin typeface="Aptos Display"/>
              </a:rPr>
              <a:t>Twelve sign-card designs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86384" y="1024128"/>
            <a:ext cx="1060704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Aptos"/>
              </a:rPr>
              <a:t>Printable 3 × 5 in cards for the 12 classes</a:t>
            </a:r>
          </a:p>
        </p:txBody>
      </p:sp>
      <p:pic>
        <p:nvPicPr>
          <p:cNvPr id="4" name="Picture 3" descr="added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334" y="1691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5" y="2889504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Added Lane</a:t>
            </a:r>
          </a:p>
        </p:txBody>
      </p:sp>
      <p:pic>
        <p:nvPicPr>
          <p:cNvPr id="6" name="Picture 5" descr="keep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9110" y="1691640"/>
            <a:ext cx="9144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33572" y="2889504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Keep Right</a:t>
            </a:r>
          </a:p>
        </p:txBody>
      </p:sp>
      <p:pic>
        <p:nvPicPr>
          <p:cNvPr id="8" name="Picture 7" descr="mer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0286" y="1691640"/>
            <a:ext cx="1143000" cy="114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9048" y="2889504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Merge</a:t>
            </a:r>
          </a:p>
        </p:txBody>
      </p:sp>
      <p:pic>
        <p:nvPicPr>
          <p:cNvPr id="10" name="Picture 9" descr="pedestrianCros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6356" y="1691640"/>
            <a:ext cx="1141810" cy="1143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64524" y="2889504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Pedestrian Crossing</a:t>
            </a:r>
          </a:p>
        </p:txBody>
      </p:sp>
      <p:pic>
        <p:nvPicPr>
          <p:cNvPr id="12" name="Picture 11" descr="sch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9334" y="3264408"/>
            <a:ext cx="1143000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8095" y="4462272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School</a:t>
            </a:r>
          </a:p>
        </p:txBody>
      </p:sp>
      <p:pic>
        <p:nvPicPr>
          <p:cNvPr id="14" name="Picture 13" descr="signalAhe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4810" y="3264408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3572" y="4462272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Signal Ahead</a:t>
            </a:r>
          </a:p>
        </p:txBody>
      </p:sp>
      <p:pic>
        <p:nvPicPr>
          <p:cNvPr id="16" name="Picture 15" descr="speedLimit2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4586" y="3264408"/>
            <a:ext cx="914400" cy="1143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99048" y="4462272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25</a:t>
            </a:r>
          </a:p>
        </p:txBody>
      </p:sp>
      <p:pic>
        <p:nvPicPr>
          <p:cNvPr id="18" name="Picture 17" descr="speedLimit3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40062" y="3264408"/>
            <a:ext cx="914400" cy="1143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64524" y="4462272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30</a:t>
            </a:r>
          </a:p>
        </p:txBody>
      </p:sp>
      <p:pic>
        <p:nvPicPr>
          <p:cNvPr id="20" name="Picture 19" descr="speedLimit3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3634" y="4837176"/>
            <a:ext cx="914400" cy="1143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8095" y="6035040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35</a:t>
            </a:r>
          </a:p>
        </p:txBody>
      </p:sp>
      <p:pic>
        <p:nvPicPr>
          <p:cNvPr id="22" name="Picture 21" descr="speedLimit4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110" y="4837176"/>
            <a:ext cx="914400" cy="1143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33572" y="6035040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45</a:t>
            </a:r>
          </a:p>
        </p:txBody>
      </p:sp>
      <p:pic>
        <p:nvPicPr>
          <p:cNvPr id="24" name="Picture 23" descr="speedLimit6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4586" y="4837176"/>
            <a:ext cx="914400" cy="1143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99048" y="6035040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Speed Limit 65</a:t>
            </a:r>
          </a:p>
        </p:txBody>
      </p:sp>
      <p:pic>
        <p:nvPicPr>
          <p:cNvPr id="26" name="Picture 25" descr="sto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762" y="4837176"/>
            <a:ext cx="1143000" cy="1143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64524" y="6035040"/>
            <a:ext cx="2665476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Aptos"/>
              </a:rPr>
              <a:t>Stop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395</Words>
  <Application>Microsoft Macintosh PowerPoint</Application>
  <PresentationFormat>Widescreen</PresentationFormat>
  <Paragraphs>78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Wells, Ethan Rhys</cp:lastModifiedBy>
  <cp:revision>3</cp:revision>
  <dcterms:created xsi:type="dcterms:W3CDTF">2013-01-27T09:14:16Z</dcterms:created>
  <dcterms:modified xsi:type="dcterms:W3CDTF">2026-10-14T03:58:02Z</dcterms:modified>
  <cp:category/>
</cp:coreProperties>
</file>