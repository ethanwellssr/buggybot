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2d35c4e1a41ab" /><Relationship Type="http://schemas.openxmlformats.org/officeDocument/2006/relationships/extended-properties" Target="/docProps/app.xml" Id="R47a8f589e0ca43eb" /><Relationship Type="http://schemas.openxmlformats.org/officeDocument/2006/relationships/officeDocument" Target="/ppt/presentation.xml" Id="R3e816875f2d848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62bce32ab94309"/>
  </p:sldMasterIdLst>
  <p:notesMasterIdLst>
    <p:notesMasterId xmlns:r="http://schemas.openxmlformats.org/officeDocument/2006/relationships" r:id="R5896763f2de8417f"/>
  </p:notesMasterIdLst>
  <p:sldIdLst>
    <p:sldId xmlns:r="http://schemas.openxmlformats.org/officeDocument/2006/relationships" id="256" r:id="R0f0cee5e3573497f"/>
    <p:sldId xmlns:r="http://schemas.openxmlformats.org/officeDocument/2006/relationships" id="257" r:id="Rc16795bc56bb477a"/>
    <p:sldId xmlns:r="http://schemas.openxmlformats.org/officeDocument/2006/relationships" id="258" r:id="R97bcced6cb5c497d"/>
    <p:sldId xmlns:r="http://schemas.openxmlformats.org/officeDocument/2006/relationships" id="259" r:id="R309e751dc81240f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60c674637541e6" /><Relationship Type="http://schemas.openxmlformats.org/officeDocument/2006/relationships/slideMaster" Target="/ppt/slideMasters/slideMaster1.xml" Id="R3562bce32ab94309" /><Relationship Type="http://schemas.openxmlformats.org/officeDocument/2006/relationships/notesMaster" Target="/ppt/notesMasters/notesMaster1.xml" Id="R5896763f2de8417f" /><Relationship Type="http://schemas.openxmlformats.org/officeDocument/2006/relationships/presProps" Target="/ppt/presProps.xml" Id="Reb9c61270e8f4ea9" /><Relationship Type="http://schemas.openxmlformats.org/officeDocument/2006/relationships/viewProps" Target="/ppt/viewProps.xml" Id="Rfce7a273d58542b0" /><Relationship Type="http://schemas.openxmlformats.org/officeDocument/2006/relationships/tableStyles" Target="/ppt/tableStyles.xml" Id="R62dadb22eef948c1" /><Relationship Type="http://schemas.openxmlformats.org/officeDocument/2006/relationships/slide" Target="/ppt/slides/slide1.xml" Id="R0f0cee5e3573497f" /><Relationship Type="http://schemas.openxmlformats.org/officeDocument/2006/relationships/slide" Target="/ppt/slides/slide2.xml" Id="Rc16795bc56bb477a" /><Relationship Type="http://schemas.openxmlformats.org/officeDocument/2006/relationships/slide" Target="/ppt/slides/slide3.xml" Id="R97bcced6cb5c497d" /><Relationship Type="http://schemas.openxmlformats.org/officeDocument/2006/relationships/slide" Target="/ppt/slides/slide4.xml" Id="R309e751dc81240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f15cddc5a043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06db78085b452b" /><Relationship Type="http://schemas.openxmlformats.org/officeDocument/2006/relationships/notesMaster" Target="/ppt/notesMasters/notesMaster1.xml" Id="Rbc93eacdf23846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461df96d974b1b" /><Relationship Type="http://schemas.openxmlformats.org/officeDocument/2006/relationships/notesMaster" Target="/ppt/notesMasters/notesMaster1.xml" Id="R8b1cde6a32364f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029cc716b947e3" /><Relationship Type="http://schemas.openxmlformats.org/officeDocument/2006/relationships/notesMaster" Target="/ppt/notesMasters/notesMaster1.xml" Id="R4bc15f8eb21949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7ff24207f14d27" /><Relationship Type="http://schemas.openxmlformats.org/officeDocument/2006/relationships/notesMaster" Target="/ppt/notesMasters/notesMaster1.xml" Id="Rc87dfe6bc19149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Hours: 7, provided by Ethan. Camera evaluation: Model Training/reports/sign_photo_test_results.md. Cleanup: commits fb6e532, f7cf81d, 0b7dd6f, b13ee66. Next-week goals are on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 Training/reports/sign_photo_test_results.md. Three crops show the same class under each recorded condition; not three independent camera angles. Images: Sign Cards/Test Images/cropped/school/{no_light,sunlight,sunlight_and_artificial}/school_000.png.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 Training/reports/sign_photo_test_results.md and sign_photo_test_report.json. Table values copied from by_class; 33 crops per class except Stop (32). Investigation on 2026-10-17: saved lisa_model.keras, no retraining. Same 329 crops, same 32x32 tf.image.resize preprocessing; grayscale = tf.image.grayscale_to_rgb(tf.image.rgb_to_grayscale(x)) on 0-255 floats. Original: 157/329 =47.7%; grayscale:196/329 =59.6%; 61 original errors fixed, 22 original correct predictions lost. This supports a sensitivity to color/preprocessing, not a causal attribution to training grayscale prevalence alone. Training crop contact-sheet inspection confirms many grayscale-looking images with small residual channel differences; avoid asserting the earlier 40% figure without a documented threshold. None of the 329 original camera crops had maximum pixelwise RGB channel spread &lt;=2. Private reproducibility script: .codex-slide-work/build/paired_gray.py; outputs paired_grayscale_results.json and grayscale_analysis.json.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Sign Cards/README.md; README.md, current pipeline status. Next steps are proposed goals accepted by Ethan for the slides, not completed implementation. Conditions cover 10 classes x3 lighting settings (~30 setups). No evidence of a systematic distance/angle study in the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efdba711424d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b15b869a947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cf012fd9243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c0800f2b84d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3cd0358c947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fe771949648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19eb3fbb7469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280d361f646a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12ccebc0e4da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715f38119457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abc33c5b2477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7ADC2C-7A2C-4F87-8936-27C01FF564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7A0AA7F-8460-4601-BD11-B0597BA525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B11FFD-6294-41C9-9661-861E833E0F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D2D293-CE21-4D7F-BD4C-862085E46D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553264-83BB-4FB0-91E5-8427BD9D83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B27AB8-C388-4888-B0E6-0FA41A4F8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D7B059-1F9E-4743-BACE-BE2F44278C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069999-4E83-431C-98F6-63CFC6A89A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734B6B-AB1F-4526-B204-81FAB805A6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AA001B-5E27-4144-A20A-F4ECA27035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F20BF5-BF7C-4F33-9B76-5A63EA858C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9815AD-CDB8-456B-B2D4-501FFE39A5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062406-B3F6-4241-8AE3-FFB4EDEDD4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24ACC0-7C86-4E7D-95B9-3BC3A70943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C1844C-D398-4C70-B386-10B08C571F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B8CD76-A72E-43F0-8EDC-6358D26642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63AFE19-248E-46E6-B583-DEE82EA532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3D2F9D-F240-402F-9714-68EE8B398B6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253C240-E95A-49F7-9416-89EE3F5DF0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3843C8E-6CD8-4D48-82FC-86A862F475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77804E7-8B67-481D-8CE5-ACA224F9BE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C64D7D-1085-4814-B2AD-097D7C57E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849C60-35F3-4A1C-9750-3D9D9CE9F7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C283EC0-2929-4280-ACD5-A4A2591830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2126BC1-A628-4DCF-BB85-A7BFC7891F1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5A34A9-EB7F-446D-9AF2-FB67FD614B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F73A4BB-AA08-4C0A-8B14-F3DDC4F033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2DFEF1D-5E8D-4606-84BE-966878F6BA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EB40C6F-88AA-4CAA-A2C3-5F518D829E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86BCAC-415E-42FC-AEC8-C6F9AB1FD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C9EB674-0B49-40B6-BE1A-69199405FA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87555AC-3A55-4126-AF40-CA0B9F12D8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1A4F38D-884E-44D2-A02F-A7E958C0C8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E57AA8D-297F-460D-99B1-2B5667DF63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A65CAA1-A858-4812-B1B4-0460C38492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CC6606B-D0A1-4F26-97A5-FAEF372197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5CD6B4-B1BF-44A3-A4EE-611A43674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091289-0C9A-48BC-8DDB-A3A8B9A6C5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B3CA33D-5B46-4000-A95D-6AC10E906E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CA59A12-F0D8-4558-8306-23EFE6BC92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F2ADEF6-3C92-4E18-BDE9-98F0A4586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9B143C5-767E-46E2-BAF5-C8AB160E58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D199D3-DDB1-418A-9EC6-49A914B2B2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E717744-4733-4554-BAC1-E335491985C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D9EF4CA-E857-4EE6-BA4A-EBFE7BC491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6FBA581-5E2C-4F90-A3A2-FADA0D7BA4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7E9149-AAE5-4753-AA5D-56B4C44F92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833B0C3-17B1-4389-A5B3-259DCB5AEE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057B1A-482D-4E89-B466-2BF9909553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C2C1E9-DF0F-4C95-9F11-AE1DA8F8E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7C54C8-9802-4CB1-AA81-EFC80A4B94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BA7A942-3202-4C25-9367-744106FF73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9666FC-F964-4CE5-9B5A-67C9A7D9B6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38CC9CA-30C8-4C18-B46F-C7A484D43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5C4CDE-6DA4-4756-97D2-378C92583B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494624-2B37-44B7-A5A2-D2FF1C84B3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CDA4D3-1D27-462A-9BE4-2E41149ECD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323924-7B82-4498-B649-FCEFA7D145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dbfa0284f1467e" /><Relationship Type="http://schemas.openxmlformats.org/officeDocument/2006/relationships/slideLayout" Target="/ppt/slideLayouts/slideLayout1.xml" Id="R5aa031535ba84ec3" /><Relationship Type="http://schemas.openxmlformats.org/officeDocument/2006/relationships/slideLayout" Target="/ppt/slideLayouts/slideLayout2.xml" Id="R9836af3c3d084730" /><Relationship Type="http://schemas.openxmlformats.org/officeDocument/2006/relationships/slideLayout" Target="/ppt/slideLayouts/slideLayout3.xml" Id="R4cb4ddff3951494b" /><Relationship Type="http://schemas.openxmlformats.org/officeDocument/2006/relationships/slideLayout" Target="/ppt/slideLayouts/slideLayout4.xml" Id="R304ed441e8894381" /><Relationship Type="http://schemas.openxmlformats.org/officeDocument/2006/relationships/slideLayout" Target="/ppt/slideLayouts/slideLayout5.xml" Id="Rcd8e8b04c9e04805" /><Relationship Type="http://schemas.openxmlformats.org/officeDocument/2006/relationships/slideLayout" Target="/ppt/slideLayouts/slideLayout6.xml" Id="Rfba7ce1c1d324111" /><Relationship Type="http://schemas.openxmlformats.org/officeDocument/2006/relationships/slideLayout" Target="/ppt/slideLayouts/slideLayout7.xml" Id="Rb0afa88daffc47a6" /><Relationship Type="http://schemas.openxmlformats.org/officeDocument/2006/relationships/slideLayout" Target="/ppt/slideLayouts/slideLayout8.xml" Id="R4831dd1e997243fc" /><Relationship Type="http://schemas.openxmlformats.org/officeDocument/2006/relationships/slideLayout" Target="/ppt/slideLayouts/slideLayout9.xml" Id="Rd429d1ced6f44fc6" /><Relationship Type="http://schemas.openxmlformats.org/officeDocument/2006/relationships/slideLayout" Target="/ppt/slideLayouts/slideLayout10.xml" Id="R51720a0f0340469a" /><Relationship Type="http://schemas.openxmlformats.org/officeDocument/2006/relationships/slideLayout" Target="/ppt/slideLayouts/slideLayout11.xml" Id="Rd6f4fedcf5ca4b2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B538F4F-8E80-401D-A07B-90B678787D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6DA794-0CCD-43AF-92A8-637DCA1EEB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6EE681-8E56-45BE-A3F7-745B5DB1499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10/13/26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680F37-1F41-433B-83BD-0BB1CEB9317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D98153-338F-496E-B4A1-462ADD6217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a031535ba84ec3"/>
    <p:sldLayoutId xmlns:r="http://schemas.openxmlformats.org/officeDocument/2006/relationships" id="2147483650" r:id="R9836af3c3d084730"/>
    <p:sldLayoutId xmlns:r="http://schemas.openxmlformats.org/officeDocument/2006/relationships" id="2147483651" r:id="R4cb4ddff3951494b"/>
    <p:sldLayoutId xmlns:r="http://schemas.openxmlformats.org/officeDocument/2006/relationships" id="2147483652" r:id="R304ed441e8894381"/>
    <p:sldLayoutId xmlns:r="http://schemas.openxmlformats.org/officeDocument/2006/relationships" id="2147483653" r:id="Rcd8e8b04c9e04805"/>
    <p:sldLayoutId xmlns:r="http://schemas.openxmlformats.org/officeDocument/2006/relationships" id="2147483654" r:id="Rfba7ce1c1d324111"/>
    <p:sldLayoutId xmlns:r="http://schemas.openxmlformats.org/officeDocument/2006/relationships" id="2147483655" r:id="Rb0afa88daffc47a6"/>
    <p:sldLayoutId xmlns:r="http://schemas.openxmlformats.org/officeDocument/2006/relationships" id="2147483656" r:id="R4831dd1e997243fc"/>
    <p:sldLayoutId xmlns:r="http://schemas.openxmlformats.org/officeDocument/2006/relationships" id="2147483657" r:id="Rd429d1ced6f44fc6"/>
    <p:sldLayoutId xmlns:r="http://schemas.openxmlformats.org/officeDocument/2006/relationships" id="2147483658" r:id="R51720a0f0340469a"/>
    <p:sldLayoutId xmlns:r="http://schemas.openxmlformats.org/officeDocument/2006/relationships" id="2147483659" r:id="Rd6f4fedcf5ca4b29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15840014e646fe" /><Relationship Type="http://schemas.openxmlformats.org/officeDocument/2006/relationships/notesSlide" Target="/ppt/notesSlides/notesSlide1.xml" Id="Rf7b2ebe1c0014c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fd74eefbff46e7" /><Relationship Type="http://schemas.openxmlformats.org/officeDocument/2006/relationships/image" Target="/ppt/media/image.png" Id="R4241e03ac5de4ad6" /><Relationship Type="http://schemas.openxmlformats.org/officeDocument/2006/relationships/image" Target="/ppt/media/image2.png" Id="R6a27ff81de7a4d1a" /><Relationship Type="http://schemas.openxmlformats.org/officeDocument/2006/relationships/image" Target="/ppt/media/image3.png" Id="R5428abbfecbe4374" /><Relationship Type="http://schemas.openxmlformats.org/officeDocument/2006/relationships/notesSlide" Target="/ppt/notesSlides/notesSlide2.xml" Id="Rf67a5e22abab4d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0eabcca8584398" /><Relationship Type="http://schemas.openxmlformats.org/officeDocument/2006/relationships/notesSlide" Target="/ppt/notesSlides/notesSlide3.xml" Id="R8aae2dd369ee44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f50c5c1a244e30" /><Relationship Type="http://schemas.openxmlformats.org/officeDocument/2006/relationships/notesSlide" Target="/ppt/notesSlides/notesSlide4.xml" Id="Rbd8970330cf64e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EE01582-F219-42DB-A1D7-48289260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5760"/>
            <a:ext cx="106070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Ethan Wells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8F17658-07B6-482D-9929-64064435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024128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Week 9 progress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81DEAC-0D92-4DC8-8CA1-0A506E08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600200"/>
            <a:ext cx="10607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Goals for the week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21024F8-4261-4F38-A0D5-9A9EFF1E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94767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marL="228600" indent="-182880" algn="l">
              <a:spcAft>
                <a:spcPts val="400"/>
              </a:spcAft>
              <a:buChar char="•"/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Test printed sign cards using BuggyBot’s CM5 camera.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D3325AE-1FC7-4186-B3DD-FE07DA44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423160"/>
            <a:ext cx="10607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Progress for the week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F4A33F0-66D1-4DE9-94C9-5FD8EB21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770632"/>
            <a:ext cx="1060704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>
            <a:defPPr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Photographed 10 sign classes under three lighting conditions.</a:t>
            </a:r>
          </a:p>
          <a:p xmlns:a="http://schemas.openxmlformats.org/drawingml/2006/main"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Prepared 329 camera crops with an OpenCV template-matching script.</a:t>
            </a:r>
          </a:p>
          <a:p xmlns:a="http://schemas.openxmlformats.org/drawingml/2006/main"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Compared LISA, Mapillary, and combined models on the same crops.</a:t>
            </a:r>
          </a:p>
          <a:p xmlns:a="http://schemas.openxmlformats.org/drawingml/2006/main"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Combined model: 329/329 correct (100% top-1).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CA23BB4-C4FD-4318-84D1-982A1A2D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43400"/>
            <a:ext cx="106070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Repository cleanup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A92D92D-51D4-4F54-A3AA-378B6C79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690872"/>
            <a:ext cx="106070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>
            <a:defPPr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Reorganized the Hardware and Model Training folders.</a:t>
            </a:r>
          </a:p>
          <a:p xmlns:a="http://schemas.openxmlformats.org/drawingml/2006/main">
            <a:pPr marL="228600" indent="-182880" algn="l">
              <a:spcAft>
                <a:spcPts val="400"/>
              </a:spcAft>
              <a:buChar char="•"/>
              <a:defRPr sz="140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Updated maintained documentation and repaired moved-file links.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0F7ACF4-A049-4282-8155-A7A484BC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581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spcAft>
                <a:spcPts val="0"/>
              </a:spcAft>
              <a:buNone/>
              <a:defRPr sz="17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Hours spent on progress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C041C1F-98B2-4429-9912-6D5FC5D7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943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30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7 hours</a:t>
            </a:r>
          </a:p>
        </p:txBody>
      </p:sp>
    </p:spTree>
    <p:extLst>
      <p:ext uri="{BB962C8B-B14F-4D97-AF65-F5344CB8AC3E}">
        <p14:creationId xmlns:p14="http://schemas.microsoft.com/office/powerpoint/2010/main" val="1148703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EEB6DD-A110-433D-9FD8-9511A695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5760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>
            <a:defPPr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defPPr>
            <a:lvl1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1pPr>
            <a:lvl2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2pPr>
            <a:lvl3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3pPr>
            <a:lvl4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4pPr>
            <a:lvl5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5pPr>
            <a:lvl6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6pPr>
            <a:lvl7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7pPr>
            <a:lvl8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8pPr>
            <a:lvl9pPr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spcAft>
                <a:spcPts val="0"/>
              </a:spcAft>
              <a:buNone/>
              <a:defRPr sz="3225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The combined model classified all camera crops correctly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2D04F73-2D3A-495F-BC4D-012942FC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024128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Top-1 accuracy on the same 329 BuggyBot camera crops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95D1629-C10C-4AEB-9100-5BD79685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733550"/>
            <a:ext cx="14287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7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LISA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979CB0E-6DAA-4669-9A30-EE05A890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666875"/>
            <a:ext cx="68122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4641713-6A59-42B6-838D-D2E567E1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666875"/>
            <a:ext cx="325084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49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7011A42-ABDD-450A-B7DD-E2807AAB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1733550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47.7%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8E031E9-CD54-41A0-B351-C3C3771D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076450"/>
            <a:ext cx="20955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157 / 329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420E2FD-C6BD-4D97-9298-0A437087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43175"/>
            <a:ext cx="14287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7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Mapillary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4521F57-013C-4601-83AA-7A837E7D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76500"/>
            <a:ext cx="68122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A512852-BD55-424F-A088-DED00A0D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76500"/>
            <a:ext cx="544568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49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08E0B50-16C8-47D4-909E-F55882BB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2543175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79.9%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4FA423E-161B-4F23-833A-6994E9F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886075"/>
            <a:ext cx="20955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263 / 329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D22A12D-8EFC-4B67-927C-D9EED376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2800"/>
            <a:ext cx="14287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736D9F2-3769-4F07-840C-4FC760FB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286125"/>
            <a:ext cx="68122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28DAE17-9103-405B-A70C-FEB3D7B2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286125"/>
            <a:ext cx="681228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69D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08A712C-D55E-46BE-A807-5EED8801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3352800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95429E-EF2E-4209-887E-3EC1A9F2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695700"/>
            <a:ext cx="20955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329 / 329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E6D6964-54A7-4911-B440-F533C58B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8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 anchor="t">
            <a:noAutofit/>
          </a:bodyPr>
          <a:lstStyle xmlns:a="http://schemas.openxmlformats.org/drawingml/2006/main">
            <a:defPPr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spcAft>
                <a:spcPts val="0"/>
              </a:spcAft>
              <a:buNone/>
              <a:defRPr sz="16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Sample camera crops: School sign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6D1F7-9130-4150-AEA5-CA6B439051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1e03ac5de4ad6"/>
          <a:stretch xmlns:a="http://schemas.openxmlformats.org/drawingml/2006/main"/>
        </p:blipFill>
        <p:spPr>
          <a:xfrm xmlns:a="http://schemas.openxmlformats.org/drawingml/2006/main">
            <a:off x="2076450" y="452437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21" name="No light">
            <a:extLst xmlns:a="http://schemas.openxmlformats.org/drawingml/2006/main">
              <a:ext uri="{FF2B5EF4-FFF2-40B4-BE49-F238E27FC236}">
                <a16:creationId xmlns:a16="http://schemas.microsoft.com/office/drawing/2014/main" id="{1430CF1C-D6EE-42FF-BAD4-F9EB321A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53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No light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E254F-C272-49C8-8E2F-32396E3BC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7ff81de7a4d1a"/>
          <a:stretch xmlns:a="http://schemas.openxmlformats.org/drawingml/2006/main"/>
        </p:blipFill>
        <p:spPr>
          <a:xfrm xmlns:a="http://schemas.openxmlformats.org/drawingml/2006/main">
            <a:off x="5362575" y="452437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23" name="Sunlight">
            <a:extLst xmlns:a="http://schemas.openxmlformats.org/drawingml/2006/main">
              <a:ext uri="{FF2B5EF4-FFF2-40B4-BE49-F238E27FC236}">
                <a16:creationId xmlns:a16="http://schemas.microsoft.com/office/drawing/2014/main" id="{BA7C5ABB-A0BB-4175-ABB3-45BB991D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6153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Sunlight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33FF30-FC08-4B87-9B07-F853F365E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8abbfecbe4374"/>
          <a:stretch xmlns:a="http://schemas.openxmlformats.org/drawingml/2006/main"/>
        </p:blipFill>
        <p:spPr>
          <a:xfrm xmlns:a="http://schemas.openxmlformats.org/drawingml/2006/main">
            <a:off x="8648700" y="4524375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25" name="Sunlight + artificial">
            <a:extLst xmlns:a="http://schemas.openxmlformats.org/drawingml/2006/main">
              <a:ext uri="{FF2B5EF4-FFF2-40B4-BE49-F238E27FC236}">
                <a16:creationId xmlns:a16="http://schemas.microsoft.com/office/drawing/2014/main" id="{27DC38CC-310D-4578-88AC-C85AD0B2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53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Sunlight + artificial</a:t>
            </a:r>
          </a:p>
        </p:txBody>
      </p:sp>
    </p:spTree>
    <p:extLst>
      <p:ext uri="{BB962C8B-B14F-4D97-AF65-F5344CB8AC3E}">
        <p14:creationId xmlns:p14="http://schemas.microsoft.com/office/powerpoint/2010/main" val="11058939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amera accuracy by sign">
            <a:extLst xmlns:a="http://schemas.openxmlformats.org/drawingml/2006/main">
              <a:ext uri="{FF2B5EF4-FFF2-40B4-BE49-F238E27FC236}">
                <a16:creationId xmlns:a16="http://schemas.microsoft.com/office/drawing/2014/main" id="{4AA95C49-6F1E-480E-957E-D196D90B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5760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Camera accuracy by sign</a:t>
            </a:r>
          </a:p>
        </p:txBody>
      </p:sp>
      <p:sp>
        <p:nvSpPr>
          <p:cNvPr id="2" name="Top-1 accuracy on the printed-card camera cro">
            <a:extLst xmlns:a="http://schemas.openxmlformats.org/drawingml/2006/main">
              <a:ext uri="{FF2B5EF4-FFF2-40B4-BE49-F238E27FC236}">
                <a16:creationId xmlns:a16="http://schemas.microsoft.com/office/drawing/2014/main" id="{C0D9CA55-E8F6-4498-8434-73E8AE3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024128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Top-1 accuracy on the printed-card camera crops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4AA43-ED22-4098-B98B-2A663A674499}"/>
              </a:ext>
            </a:extLst>
          </p:cNvPr>
          <p:cNvGraphicFramePr/>
          <p:nvPr/>
        </p:nvGraphicFramePr>
        <p:xfrm>
          <a:off xmlns:a="http://schemas.openxmlformats.org/drawingml/2006/main" x="781050" y="1647825"/>
          <a:ext xmlns:a="http://schemas.openxmlformats.org/drawingml/2006/main" cx="6572250" cy="4086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85950"/>
                <a:gridCol w="800100"/>
                <a:gridCol w="1066800"/>
                <a:gridCol w="1371600"/>
                <a:gridCol w="1447800"/>
              </a:tblGrid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Sign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Photos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LISA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Mapillary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Combined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30669D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Added Lane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33.3%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Keep Right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72.7%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Merge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Pedestrian Crossing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School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Signal Ahead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51.5%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Speed Limit 25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Speed Limit 45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21.2%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Speed Limit 65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33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Stop</a:t>
                      </a:r>
                    </a:p>
                  </a:txBody>
                  <a:tcPr marL="76200" marR="76200" marT="38100" marB="3810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32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30669D"/>
                          </a:solidFill>
                          <a:latin typeface="Aptos"/>
                          <a:ea typeface="Aptos"/>
                          <a:cs typeface="Aptos"/>
                        </a:rPr>
                        <a:t>100.0%</a:t>
                      </a:r>
                    </a:p>
                  </a:txBody>
                  <a:tcPr marL="76200" marR="76200" marT="38100" marB="3810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</a:tr>
            </a:tbl>
          </a:graphicData>
        </a:graphic>
      </p:graphicFrame>
      <p:sp>
        <p:nvSpPr>
          <p:cNvPr id="4" name="Mapillary: speed-limit failures">
            <a:extLst xmlns:a="http://schemas.openxmlformats.org/drawingml/2006/main">
              <a:ext uri="{FF2B5EF4-FFF2-40B4-BE49-F238E27FC236}">
                <a16:creationId xmlns:a16="http://schemas.microsoft.com/office/drawing/2014/main" id="{E90E814F-D457-4052-89E0-AB28AF17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657350"/>
            <a:ext cx="36480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Mapillary: speed-limit failures</a:t>
            </a:r>
          </a:p>
        </p:txBody>
      </p:sp>
      <p:sp>
        <p:nvSpPr>
          <p:cNvPr id="5" name="Every Speed 45 and Speed 65 crop was misclass">
            <a:extLst xmlns:a="http://schemas.openxmlformats.org/drawingml/2006/main">
              <a:ext uri="{FF2B5EF4-FFF2-40B4-BE49-F238E27FC236}">
                <a16:creationId xmlns:a16="http://schemas.microsoft.com/office/drawing/2014/main" id="{DBCB3CB3-B144-40D8-8CDA-5CA6CE0C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190750"/>
            <a:ext cx="36480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Every Speed 45 and Speed 65 crop was misclassified (0/33 each).</a:t>
            </a:r>
          </a:p>
        </p:txBody>
      </p:sp>
      <p:sp>
        <p:nvSpPr>
          <p:cNvPr id="6" name="LISA: color mismatch is a factor">
            <a:extLst xmlns:a="http://schemas.openxmlformats.org/drawingml/2006/main">
              <a:ext uri="{FF2B5EF4-FFF2-40B4-BE49-F238E27FC236}">
                <a16:creationId xmlns:a16="http://schemas.microsoft.com/office/drawing/2014/main" id="{7B478A8E-1B14-4E80-BA92-7F3AE8C9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267075"/>
            <a:ext cx="364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LISA: color mismatch is a factor</a:t>
            </a:r>
          </a:p>
        </p:txBody>
      </p:sp>
      <p:sp>
        <p:nvSpPr>
          <p:cNvPr id="7" name="Training includes many grayscale / near-grays">
            <a:extLst xmlns:a="http://schemas.openxmlformats.org/drawingml/2006/main">
              <a:ext uri="{FF2B5EF4-FFF2-40B4-BE49-F238E27FC236}">
                <a16:creationId xmlns:a16="http://schemas.microsoft.com/office/drawing/2014/main" id="{9BE101A6-24EF-4DDD-BB67-1666CCFB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857625"/>
            <a:ext cx="36480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Training includes many grayscale / near-grayscale crops; all 329 camera crops are color.</a:t>
            </a:r>
          </a:p>
        </p:txBody>
      </p:sp>
      <p:sp>
        <p:nvSpPr>
          <p:cNvPr id="8" name="Grayscale conversion raised LISA from 47.7% t">
            <a:extLst xmlns:a="http://schemas.openxmlformats.org/drawingml/2006/main">
              <a:ext uri="{FF2B5EF4-FFF2-40B4-BE49-F238E27FC236}">
                <a16:creationId xmlns:a16="http://schemas.microsoft.com/office/drawing/2014/main" id="{B22A15A0-2860-45A2-BBB9-A35C0BF2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857750"/>
            <a:ext cx="36480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Grayscale conversion raised LISA from 47.7% to 59.6% on these same photos. It does not explain every error.</a:t>
            </a:r>
          </a:p>
        </p:txBody>
      </p:sp>
      <p:sp>
        <p:nvSpPr>
          <p:cNvPr id="9" name="Speed limits 30 and 35 were not photographed;">
            <a:extLst xmlns:a="http://schemas.openxmlformats.org/drawingml/2006/main">
              <a:ext uri="{FF2B5EF4-FFF2-40B4-BE49-F238E27FC236}">
                <a16:creationId xmlns:a16="http://schemas.microsoft.com/office/drawing/2014/main" id="{2D6ED7EE-D272-4D02-9A02-CDF3810A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0198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22313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2313F"/>
                </a:solidFill>
                <a:latin typeface="Aptos"/>
                <a:ea typeface="Aptos"/>
                <a:cs typeface="Aptos"/>
              </a:rPr>
              <a:t>Speed limits 30 and 35 were not photographed; they are not planned for the track.</a:t>
            </a:r>
          </a:p>
        </p:txBody>
      </p:sp>
    </p:spTree>
    <p:extLst>
      <p:ext uri="{BB962C8B-B14F-4D97-AF65-F5344CB8AC3E}">
        <p14:creationId xmlns:p14="http://schemas.microsoft.com/office/powerpoint/2010/main" val="345155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st limits and goals for next week">
            <a:extLst xmlns:a="http://schemas.openxmlformats.org/drawingml/2006/main">
              <a:ext uri="{FF2B5EF4-FFF2-40B4-BE49-F238E27FC236}">
                <a16:creationId xmlns:a16="http://schemas.microsoft.com/office/drawing/2014/main" id="{3A601647-C90F-4D1F-92C0-E8E5EF19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5760"/>
            <a:ext cx="10789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defPPr>
            <a:lvl1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1pPr>
            <a:lvl2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2pPr>
            <a:lvl3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3pPr>
            <a:lvl4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4pPr>
            <a:lvl5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5pPr>
            <a:lvl6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6pPr>
            <a:lvl7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7pPr>
            <a:lvl8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8pPr>
            <a:lvl9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lvl9pPr>
          </a:lstStyle>
          <a:p xmlns:a="http://schemas.openxmlformats.org/drawingml/2006/main">
            <a:pPr algn="l">
              <a:buNone/>
              <a:def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350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Test limits and goals for next week</a:t>
            </a:r>
          </a:p>
        </p:txBody>
      </p:sp>
      <p:sp>
        <p:nvSpPr>
          <p:cNvPr id="2" name="The classifier passed this crop test; the liv">
            <a:extLst xmlns:a="http://schemas.openxmlformats.org/drawingml/2006/main">
              <a:ext uri="{FF2B5EF4-FFF2-40B4-BE49-F238E27FC236}">
                <a16:creationId xmlns:a16="http://schemas.microsoft.com/office/drawing/2014/main" id="{69F15499-FDFF-459E-A6CE-FFEE1ACD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024128"/>
            <a:ext cx="106070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classifier passed this crop test; the live pipeline remains to be tested</a:t>
            </a:r>
          </a:p>
        </p:txBody>
      </p:sp>
      <p:sp>
        <p:nvSpPr>
          <p:cNvPr id="3" name="Test limits">
            <a:extLst xmlns:a="http://schemas.openxmlformats.org/drawingml/2006/main">
              <a:ext uri="{FF2B5EF4-FFF2-40B4-BE49-F238E27FC236}">
                <a16:creationId xmlns:a16="http://schemas.microsoft.com/office/drawing/2014/main" id="{DBCA19F4-C7DB-4300-B28A-EC131752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145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Test limits</a:t>
            </a:r>
          </a:p>
        </p:txBody>
      </p:sp>
      <p:sp>
        <p:nvSpPr>
          <p:cNvPr id="4" name="329 photos represent about 30 setups; repeate">
            <a:extLst xmlns:a="http://schemas.openxmlformats.org/drawingml/2006/main">
              <a:ext uri="{FF2B5EF4-FFF2-40B4-BE49-F238E27FC236}">
                <a16:creationId xmlns:a16="http://schemas.microsoft.com/office/drawing/2014/main" id="{C7783AEA-A0A0-4052-8116-59FFA2A8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6695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329 photos represent about 30 setups; repeated frames are near-duplicates.</a:t>
            </a:r>
          </a:p>
        </p:txBody>
      </p:sp>
      <p:sp>
        <p:nvSpPr>
          <p:cNvPr id="5" name="Cropping used each sign’s known class and mat">
            <a:extLst xmlns:a="http://schemas.openxmlformats.org/drawingml/2006/main">
              <a:ext uri="{FF2B5EF4-FFF2-40B4-BE49-F238E27FC236}">
                <a16:creationId xmlns:a16="http://schemas.microsoft.com/office/drawing/2014/main" id="{8429D3E0-951F-4E24-961E-2D4353E8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Cropping used each sign’s known class and matching artwork.</a:t>
            </a:r>
          </a:p>
        </p:txBody>
      </p:sp>
      <p:sp>
        <p:nvSpPr>
          <p:cNvPr id="6" name="Distances and angles were not systematically ">
            <a:extLst xmlns:a="http://schemas.openxmlformats.org/drawingml/2006/main">
              <a:ext uri="{FF2B5EF4-FFF2-40B4-BE49-F238E27FC236}">
                <a16:creationId xmlns:a16="http://schemas.microsoft.com/office/drawing/2014/main" id="{AC362573-766F-45CB-A5CF-EC787E72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575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Distances and angles were not systematically varied in the recorded test.</a:t>
            </a:r>
          </a:p>
        </p:txBody>
      </p:sp>
      <p:sp>
        <p:nvSpPr>
          <p:cNvPr id="7" name="Results measure cropped-sign classification; ">
            <a:extLst xmlns:a="http://schemas.openxmlformats.org/drawingml/2006/main">
              <a:ext uri="{FF2B5EF4-FFF2-40B4-BE49-F238E27FC236}">
                <a16:creationId xmlns:a16="http://schemas.microsoft.com/office/drawing/2014/main" id="{FEF9C5E9-F5E5-4FEE-BE49-FAF81112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4810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Results measure cropped-sign classification; live sign detection and CM5 inference remain unverified.</a:t>
            </a:r>
          </a:p>
        </p:txBody>
      </p:sp>
      <p:sp>
        <p:nvSpPr>
          <p:cNvPr id="8" name="Goals for next week">
            <a:extLst xmlns:a="http://schemas.openxmlformats.org/drawingml/2006/main">
              <a:ext uri="{FF2B5EF4-FFF2-40B4-BE49-F238E27FC236}">
                <a16:creationId xmlns:a16="http://schemas.microsoft.com/office/drawing/2014/main" id="{3C7047C2-9D9F-4189-AA62-325DDFF7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30669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0669D"/>
                </a:solidFill>
                <a:latin typeface="Aptos"/>
                <a:ea typeface="Aptos"/>
                <a:cs typeface="Aptos"/>
              </a:rPr>
              <a:t>Goals for next week</a:t>
            </a:r>
          </a:p>
        </p:txBody>
      </p:sp>
      <p:sp>
        <p:nvSpPr>
          <p:cNvPr id="9" name="1. Connect the combined classifier to the CM5">
            <a:extLst xmlns:a="http://schemas.openxmlformats.org/drawingml/2006/main">
              <a:ext uri="{FF2B5EF4-FFF2-40B4-BE49-F238E27FC236}">
                <a16:creationId xmlns:a16="http://schemas.microsoft.com/office/drawing/2014/main" id="{615CA3E8-91A9-4EF3-BF89-16484D4E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9911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1. Connect the combined classifier to the CM5 camera and LCD pipeline.</a:t>
            </a:r>
          </a:p>
        </p:txBody>
      </p:sp>
      <p:sp>
        <p:nvSpPr>
          <p:cNvPr id="10" name="2. Evaluate automatic sign crops without usin">
            <a:extLst xmlns:a="http://schemas.openxmlformats.org/drawingml/2006/main">
              <a:ext uri="{FF2B5EF4-FFF2-40B4-BE49-F238E27FC236}">
                <a16:creationId xmlns:a16="http://schemas.microsoft.com/office/drawing/2014/main" id="{6B34F6A6-90C8-4B83-AEE3-B6DF57BB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49911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2. Evaluate automatic sign crops without using the known class.</a:t>
            </a:r>
          </a:p>
        </p:txBody>
      </p:sp>
      <p:sp>
        <p:nvSpPr>
          <p:cNvPr id="11" name="3. Capture new setups at measured distances a">
            <a:extLst xmlns:a="http://schemas.openxmlformats.org/drawingml/2006/main">
              <a:ext uri="{FF2B5EF4-FFF2-40B4-BE49-F238E27FC236}">
                <a16:creationId xmlns:a16="http://schemas.microsoft.com/office/drawing/2014/main" id="{9F9BD05C-83E5-4D94-91F9-340E8CF4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43450"/>
            <a:ext cx="49911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3. Capture new setups at measured distances and angles; track accuracy and inference time.</a:t>
            </a:r>
          </a:p>
        </p:txBody>
      </p:sp>
    </p:spTree>
    <p:extLst>
      <p:ext uri="{BB962C8B-B14F-4D97-AF65-F5344CB8AC3E}">
        <p14:creationId xmlns:p14="http://schemas.microsoft.com/office/powerpoint/2010/main" val="17270602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2026-10-17T22:32:33.8230000Z</dcterms:created>
  <dcterms:modified xsi:type="dcterms:W3CDTF">2026-10-17T22:32:33.8230000Z</dcterms:modified>
</coreProperties>
</file>